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1437" r:id="rId5"/>
    <p:sldId id="1453" r:id="rId6"/>
    <p:sldId id="1419" r:id="rId7"/>
    <p:sldId id="1438" r:id="rId8"/>
    <p:sldId id="1439" r:id="rId9"/>
    <p:sldId id="1440" r:id="rId10"/>
    <p:sldId id="1433" r:id="rId11"/>
    <p:sldId id="502" r:id="rId12"/>
    <p:sldId id="1441" r:id="rId13"/>
    <p:sldId id="1442" r:id="rId14"/>
    <p:sldId id="1443" r:id="rId15"/>
    <p:sldId id="1445" r:id="rId16"/>
    <p:sldId id="1444" r:id="rId17"/>
    <p:sldId id="292" r:id="rId18"/>
    <p:sldId id="1432" r:id="rId19"/>
    <p:sldId id="1431" r:id="rId20"/>
    <p:sldId id="1451" r:id="rId21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3047924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6pPr>
    <a:lvl7pPr marL="3657509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7pPr>
    <a:lvl8pPr marL="4267093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8pPr>
    <a:lvl9pPr marL="4876678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2" orient="horz" pos="4224" userDrawn="1">
          <p15:clr>
            <a:srgbClr val="A4A3A4"/>
          </p15:clr>
        </p15:guide>
        <p15:guide id="3" orient="horz" pos="2727" userDrawn="1">
          <p15:clr>
            <a:srgbClr val="A4A3A4"/>
          </p15:clr>
        </p15:guide>
        <p15:guide id="4" orient="horz" pos="686" userDrawn="1">
          <p15:clr>
            <a:srgbClr val="A4A3A4"/>
          </p15:clr>
        </p15:guide>
        <p15:guide id="5" orient="horz" pos="2137" userDrawn="1">
          <p15:clr>
            <a:srgbClr val="A4A3A4"/>
          </p15:clr>
        </p15:guide>
        <p15:guide id="6" orient="horz" pos="2999" userDrawn="1">
          <p15:clr>
            <a:srgbClr val="A4A3A4"/>
          </p15:clr>
        </p15:guide>
        <p15:guide id="7" pos="461" userDrawn="1">
          <p15:clr>
            <a:srgbClr val="A4A3A4"/>
          </p15:clr>
        </p15:guide>
        <p15:guide id="8" pos="6970" userDrawn="1">
          <p15:clr>
            <a:srgbClr val="A4A3A4"/>
          </p15:clr>
        </p15:guide>
        <p15:guide id="10" pos="2048" userDrawn="1">
          <p15:clr>
            <a:srgbClr val="A4A3A4"/>
          </p15:clr>
        </p15:guide>
        <p15:guide id="11" pos="4906" userDrawn="1">
          <p15:clr>
            <a:srgbClr val="A4A3A4"/>
          </p15:clr>
        </p15:guide>
        <p15:guide id="12" pos="2729" userDrawn="1">
          <p15:clr>
            <a:srgbClr val="A4A3A4"/>
          </p15:clr>
        </p15:guide>
        <p15:guide id="13" pos="756" userDrawn="1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5" pos="7436" userDrawn="1">
          <p15:clr>
            <a:srgbClr val="A4A3A4"/>
          </p15:clr>
        </p15:guide>
        <p15:guide id="17" pos="6249" userDrawn="1">
          <p15:clr>
            <a:srgbClr val="A4A3A4"/>
          </p15:clr>
        </p15:guide>
        <p15:guide id="18" pos="59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AC4"/>
    <a:srgbClr val="D3E9F8"/>
    <a:srgbClr val="EE2F24"/>
    <a:srgbClr val="90949E"/>
    <a:srgbClr val="8B9D8C"/>
    <a:srgbClr val="EAEEF2"/>
    <a:srgbClr val="D8DBE3"/>
    <a:srgbClr val="ED3024"/>
    <a:srgbClr val="084AC5"/>
    <a:srgbClr val="304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E864C-013A-CEE5-5557-64E373544D9F}" v="149" dt="2025-08-18T07:56:18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Stijl, gemiddeld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7"/>
    <p:restoredTop sz="94718"/>
  </p:normalViewPr>
  <p:slideViewPr>
    <p:cSldViewPr snapToGrid="0">
      <p:cViewPr varScale="1">
        <p:scale>
          <a:sx n="105" d="100"/>
          <a:sy n="105" d="100"/>
        </p:scale>
        <p:origin x="216" y="440"/>
      </p:cViewPr>
      <p:guideLst>
        <p:guide orient="horz" pos="142"/>
        <p:guide orient="horz" pos="4224"/>
        <p:guide orient="horz" pos="2727"/>
        <p:guide orient="horz" pos="686"/>
        <p:guide orient="horz" pos="2137"/>
        <p:guide orient="horz" pos="2999"/>
        <p:guide pos="461"/>
        <p:guide pos="6970"/>
        <p:guide pos="2048"/>
        <p:guide pos="4906"/>
        <p:guide pos="2729"/>
        <p:guide pos="756"/>
        <p:guide pos="3144"/>
        <p:guide pos="7436"/>
        <p:guide pos="6249"/>
        <p:guide pos="59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28638" y="153988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1588" y="153988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28638" y="838200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1588" y="838200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E8C5BD47-55D6-1344-B91F-7C24D2E19559}" type="slidenum">
              <a:rPr lang="en-GB"/>
              <a:pPr/>
              <a:t>‹#›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746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28638" y="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1588" y="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28638" y="852805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1588" y="852805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92BE362E-78BA-324A-8038-5482DADFDF7D}" type="slidenum">
              <a:rPr lang="en-GB"/>
              <a:pPr/>
              <a:t>‹#›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512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867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E362E-78BA-324A-8038-5482DADFDF7D}" type="slidenum">
              <a:rPr lang="en-GB" smtClean="0"/>
              <a:pPr/>
              <a:t>6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78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indel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B64E9D3-E13D-735A-7A7F-1465FD1203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3140" y="0"/>
            <a:ext cx="8018860" cy="6858000"/>
          </a:xfrm>
          <a:prstGeom prst="rect">
            <a:avLst/>
          </a:prstGeom>
        </p:spPr>
      </p:pic>
      <p:sp>
        <p:nvSpPr>
          <p:cNvPr id="24" name="Rectangle 3"/>
          <p:cNvSpPr>
            <a:spLocks noGrp="1" noChangeArrowheads="1"/>
          </p:cNvSpPr>
          <p:nvPr>
            <p:ph idx="10" hasCustomPrompt="1"/>
          </p:nvPr>
        </p:nvSpPr>
        <p:spPr bwMode="auto">
          <a:xfrm>
            <a:off x="1203157" y="3689501"/>
            <a:ext cx="6372636" cy="86428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00000"/>
              </a:lnSpc>
              <a:buFontTx/>
              <a:buNone/>
              <a:defRPr sz="3200" b="0" i="1" baseline="0">
                <a:solidFill>
                  <a:srgbClr val="ED3024"/>
                </a:solidFill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23" name="Rectangle 3"/>
          <p:cNvSpPr>
            <a:spLocks noGrp="1" noChangeArrowheads="1"/>
          </p:cNvSpPr>
          <p:nvPr>
            <p:ph idx="11" hasCustomPrompt="1"/>
          </p:nvPr>
        </p:nvSpPr>
        <p:spPr bwMode="auto">
          <a:xfrm>
            <a:off x="1203160" y="5205246"/>
            <a:ext cx="9745579" cy="77905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2133"/>
            </a:lvl2pPr>
            <a:lvl3pPr marL="1147177" indent="0">
              <a:buFontTx/>
              <a:buNone/>
              <a:defRPr/>
            </a:lvl3pPr>
            <a:lvl4pPr marL="1648801" indent="0">
              <a:buFontTx/>
              <a:buNone/>
              <a:defRPr/>
            </a:lvl4pPr>
            <a:lvl5pPr marL="2290119" indent="0">
              <a:buFontTx/>
              <a:buNone/>
              <a:defRPr/>
            </a:lvl5pPr>
          </a:lstStyle>
          <a:p>
            <a:pPr lvl="0"/>
            <a:r>
              <a:rPr lang="nl-NL"/>
              <a:t>Naam Spreker</a:t>
            </a:r>
            <a:endParaRPr lang="en-GB"/>
          </a:p>
        </p:txBody>
      </p:sp>
      <p:sp>
        <p:nvSpPr>
          <p:cNvPr id="2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1203162" y="1550971"/>
            <a:ext cx="6231959" cy="1754631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5067" baseline="0">
                <a:solidFill>
                  <a:srgbClr val="094AC4"/>
                </a:solidFill>
              </a:defRPr>
            </a:lvl1pPr>
          </a:lstStyle>
          <a:p>
            <a:pPr lvl="0"/>
            <a:r>
              <a:rPr lang="nl-NL"/>
              <a:t>Titelstijl van model bewerken</a:t>
            </a:r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A59C5D7-67DC-7CBE-DB1A-4CCB5BC4F8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64" y="6073512"/>
            <a:ext cx="12082071" cy="704278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03E209FF-453F-789A-EC6C-FF1CF69AB9E9}"/>
              </a:ext>
            </a:extLst>
          </p:cNvPr>
          <p:cNvSpPr/>
          <p:nvPr userDrawn="1"/>
        </p:nvSpPr>
        <p:spPr bwMode="auto">
          <a:xfrm>
            <a:off x="241466" y="187645"/>
            <a:ext cx="1228437" cy="8636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9928DAA-9BCE-E65A-2ECB-FF0CD662BD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3116" y="301950"/>
            <a:ext cx="3601872" cy="105707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7C09EE46-6AAF-8596-0A14-7DB5ACBC17DB}"/>
              </a:ext>
            </a:extLst>
          </p:cNvPr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8A63F7A-39DE-E86C-68BA-1472AA4443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F04519B6-C8F4-64B5-822A-39B946E2EAEA}"/>
              </a:ext>
            </a:extLst>
          </p:cNvPr>
          <p:cNvSpPr/>
          <p:nvPr userDrawn="1"/>
        </p:nvSpPr>
        <p:spPr bwMode="auto">
          <a:xfrm>
            <a:off x="1" y="6714000"/>
            <a:ext cx="12192000" cy="144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321AEFC-FE0F-BACB-453E-E5848F3403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948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C458842-9BDF-0C8D-4DAA-A0402AB94F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4000"/>
          </a:blip>
          <a:srcRect t="1" r="26095" b="30262"/>
          <a:stretch/>
        </p:blipFill>
        <p:spPr>
          <a:xfrm>
            <a:off x="6322060" y="757853"/>
            <a:ext cx="5869940" cy="61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559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E3EEF720-BB9C-C7E4-C870-0F448797EC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7861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7048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de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3697073"/>
            <a:ext cx="10595645" cy="2560855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0010039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- w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988838" cy="1201783"/>
          </a:xfrm>
        </p:spPr>
        <p:txBody>
          <a:bodyPr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203158" y="1447802"/>
            <a:ext cx="10475036" cy="4810127"/>
          </a:xfrm>
          <a:prstGeom prst="rect">
            <a:avLst/>
          </a:prstGeom>
          <a:noFill/>
          <a:effectLst/>
        </p:spPr>
        <p:txBody>
          <a:bodyPr lIns="108000" tIns="108000" rIns="108000" bIns="108000"/>
          <a:lstStyle>
            <a:lvl2pPr marL="180000" indent="-180000">
              <a:defRPr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9030609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 - beeldme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988838" cy="1201783"/>
          </a:xfrm>
        </p:spPr>
        <p:txBody>
          <a:bodyPr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203158" y="1447802"/>
            <a:ext cx="10475036" cy="4810127"/>
          </a:xfrm>
          <a:prstGeom prst="rect">
            <a:avLst/>
          </a:prstGeom>
          <a:noFill/>
          <a:effectLst/>
        </p:spPr>
        <p:txBody>
          <a:bodyPr lIns="108000" tIns="108000" rIns="108000" bIns="108000"/>
          <a:lstStyle>
            <a:lvl2pPr marL="180000" indent="-180000">
              <a:defRPr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A325C746-E1F7-32D9-DB1D-186C1E12B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496" r="6350"/>
          <a:stretch/>
        </p:blipFill>
        <p:spPr>
          <a:xfrm>
            <a:off x="9210647" y="1484358"/>
            <a:ext cx="2981353" cy="38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4358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 - zndr onderbal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93369"/>
          </a:xfrm>
          <a:noFill/>
        </p:spPr>
        <p:txBody>
          <a:bodyPr lIns="0"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203158" y="1447802"/>
            <a:ext cx="9565583" cy="4810127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4CDC8A3B-47D5-B5E9-3DD8-8A9D9A450B54}"/>
              </a:ext>
            </a:extLst>
          </p:cNvPr>
          <p:cNvSpPr/>
          <p:nvPr userDrawn="1"/>
        </p:nvSpPr>
        <p:spPr bwMode="auto">
          <a:xfrm>
            <a:off x="0" y="5906125"/>
            <a:ext cx="12192000" cy="9518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13929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5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LEEG - blau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93369"/>
          </a:xfrm>
          <a:noFill/>
        </p:spPr>
        <p:txBody>
          <a:bodyPr lIns="0"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723912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5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p 1 reg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/>
          <p:cNvSpPr>
            <a:spLocks noGrp="1"/>
          </p:cNvSpPr>
          <p:nvPr>
            <p:ph idx="1"/>
          </p:nvPr>
        </p:nvSpPr>
        <p:spPr>
          <a:xfrm>
            <a:off x="1203157" y="1458915"/>
            <a:ext cx="9565583" cy="5094287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9565578" cy="1162053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5653889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voett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6" y="0"/>
            <a:ext cx="9566443" cy="1146387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1203157" y="1454151"/>
            <a:ext cx="9566443" cy="5064124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50354845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1"/>
            <a:ext cx="10285883" cy="1235076"/>
          </a:xfrm>
        </p:spPr>
        <p:txBody>
          <a:bodyPr/>
          <a:lstStyle/>
          <a:p>
            <a:endParaRPr lang="nl-NL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03160" y="1448979"/>
            <a:ext cx="4890727" cy="41894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6598318" y="1448979"/>
            <a:ext cx="4890727" cy="41894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182572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196813" y="2041844"/>
            <a:ext cx="4902033" cy="846453"/>
          </a:xfrm>
        </p:spPr>
        <p:txBody>
          <a:bodyPr anchor="b"/>
          <a:lstStyle>
            <a:lvl1pPr marL="0" indent="0">
              <a:buNone/>
              <a:defRPr sz="2667" b="1">
                <a:solidFill>
                  <a:schemeClr val="accent1"/>
                </a:solidFill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196806" y="3081658"/>
            <a:ext cx="4902035" cy="2953385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911808" y="2041844"/>
            <a:ext cx="4903203" cy="846453"/>
          </a:xfrm>
        </p:spPr>
        <p:txBody>
          <a:bodyPr anchor="b"/>
          <a:lstStyle>
            <a:lvl1pPr marL="0" indent="0">
              <a:buNone/>
              <a:defRPr sz="2667" b="1">
                <a:solidFill>
                  <a:schemeClr val="accent1"/>
                </a:solidFill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911808" y="3081658"/>
            <a:ext cx="4903203" cy="2953385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7" y="0"/>
            <a:ext cx="10611854" cy="1228727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235032726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414215" cy="1216027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1256673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Alleen titel ZONDER GO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114412" cy="1216027"/>
          </a:xfrm>
        </p:spPr>
        <p:txBody>
          <a:bodyPr/>
          <a:lstStyle/>
          <a:p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1734A600-2E23-BC49-9F5E-477F93AA6B71}"/>
              </a:ext>
            </a:extLst>
          </p:cNvPr>
          <p:cNvSpPr/>
          <p:nvPr userDrawn="1"/>
        </p:nvSpPr>
        <p:spPr bwMode="auto">
          <a:xfrm>
            <a:off x="0" y="5673968"/>
            <a:ext cx="12192000" cy="118403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59669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589100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g me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4B953A6C-1D6C-A3C2-7BE1-6E833731B421}"/>
              </a:ext>
            </a:extLst>
          </p:cNvPr>
          <p:cNvSpPr/>
          <p:nvPr userDrawn="1"/>
        </p:nvSpPr>
        <p:spPr bwMode="auto">
          <a:xfrm>
            <a:off x="0" y="5673968"/>
            <a:ext cx="12192000" cy="118403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DADC578C-D5E1-30AB-67B6-8BE0C8359159}"/>
              </a:ext>
            </a:extLst>
          </p:cNvPr>
          <p:cNvSpPr/>
          <p:nvPr userDrawn="1"/>
        </p:nvSpPr>
        <p:spPr bwMode="auto">
          <a:xfrm>
            <a:off x="0" y="135467"/>
            <a:ext cx="1236133" cy="999066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E517412-C24C-6F7D-EB93-4CEC0B19F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3116" y="301951"/>
            <a:ext cx="2320753" cy="6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9551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8" y="1"/>
            <a:ext cx="10122572" cy="1222376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203162" y="1446215"/>
            <a:ext cx="3721769" cy="5118679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5414214" y="1455741"/>
            <a:ext cx="5911516" cy="511333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434060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1" y="1"/>
            <a:ext cx="10047702" cy="1209676"/>
          </a:xfrm>
        </p:spPr>
        <p:txBody>
          <a:bodyPr/>
          <a:lstStyle>
            <a:lvl1pPr algn="l">
              <a:defRPr sz="3200" b="1"/>
            </a:lvl1pPr>
          </a:lstStyle>
          <a:p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203160" y="1430337"/>
            <a:ext cx="6753729" cy="5113339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433580" y="1430339"/>
            <a:ext cx="2817283" cy="1289632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51580955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1333" baseline="0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245112342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7C09EE46-6AAF-8596-0A14-7DB5ACBC17DB}"/>
              </a:ext>
            </a:extLst>
          </p:cNvPr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8A63F7A-39DE-E86C-68BA-1472AA4443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E83CEB60-6D15-4145-8168-F707E66C40A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203162" y="1496274"/>
            <a:ext cx="6112038" cy="72659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>
            <a:lvl1pPr>
              <a:defRPr sz="28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Contact</a:t>
            </a:r>
            <a:endParaRPr lang="en-GB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F04519B6-C8F4-64B5-822A-39B946E2EAEA}"/>
              </a:ext>
            </a:extLst>
          </p:cNvPr>
          <p:cNvSpPr/>
          <p:nvPr userDrawn="1"/>
        </p:nvSpPr>
        <p:spPr bwMode="auto">
          <a:xfrm>
            <a:off x="1" y="6714000"/>
            <a:ext cx="12192000" cy="144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E6AB694-D07F-064E-AFBB-EA6CC2624563}"/>
              </a:ext>
            </a:extLst>
          </p:cNvPr>
          <p:cNvSpPr txBox="1">
            <a:spLocks/>
          </p:cNvSpPr>
          <p:nvPr userDrawn="1"/>
        </p:nvSpPr>
        <p:spPr>
          <a:xfrm>
            <a:off x="706768" y="2390503"/>
            <a:ext cx="6255734" cy="301752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i="0" kern="1200">
                <a:solidFill>
                  <a:srgbClr val="FFFFFF"/>
                </a:solidFill>
                <a:latin typeface="Bitter"/>
                <a:ea typeface="+mn-ea"/>
                <a:cs typeface="Georgia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+mn-lt"/>
                <a:ea typeface="+mn-ea"/>
                <a:cs typeface="Georgia"/>
              </a:rPr>
              <a:t>A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Science Park 408</a:t>
            </a:r>
          </a:p>
          <a:p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1098 XH  Amsterdam</a:t>
            </a:r>
          </a:p>
          <a:p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The Netherlands</a:t>
            </a:r>
          </a:p>
          <a:p>
            <a:r>
              <a:rPr lang="en-US" sz="1867" b="0" i="0" u="none" strike="noStrike" kern="1200" cap="small" baseline="0">
                <a:solidFill>
                  <a:srgbClr val="EE2F24"/>
                </a:solidFill>
                <a:effectLst/>
                <a:latin typeface="+mn-lt"/>
                <a:ea typeface="+mn-ea"/>
                <a:cs typeface="Georgia"/>
              </a:rPr>
              <a:t>T</a:t>
            </a:r>
            <a:r>
              <a:rPr lang="en-US" sz="1867" b="0" i="0" u="none" strike="noStrike" kern="1200" cap="small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+31 (0)20 2269 700</a:t>
            </a:r>
          </a:p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+mn-ea"/>
                <a:cs typeface="Georgia"/>
              </a:rPr>
              <a:t>E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info@hartwigmedicalfoundation.nl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 </a:t>
            </a:r>
          </a:p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+mn-ea"/>
                <a:cs typeface="Georgia"/>
              </a:rPr>
              <a:t>W</a:t>
            </a:r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Bitter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hartwigmedicalfoundation.nl</a:t>
            </a:r>
            <a:endParaRPr lang="en-US" sz="1867" b="0" i="0" u="none" strike="noStrike" kern="1200" baseline="0">
              <a:solidFill>
                <a:schemeClr val="bg1"/>
              </a:solidFill>
              <a:effectLst/>
              <a:latin typeface="+mn-lt"/>
              <a:ea typeface="+mn-ea"/>
              <a:cs typeface="Georgia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963C6EE-0C40-74FF-683C-4E0D01157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922" r="2153"/>
          <a:stretch/>
        </p:blipFill>
        <p:spPr>
          <a:xfrm>
            <a:off x="5895308" y="515508"/>
            <a:ext cx="5823394" cy="5826984"/>
          </a:xfrm>
          <a:prstGeom prst="ellipse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20A7667-1DB3-37DA-4FA6-00136442D6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2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52975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3157" y="1447802"/>
            <a:ext cx="9665369" cy="481012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3157" y="0"/>
            <a:ext cx="8251992" cy="11463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C8B59C8-9459-7B4C-AD35-A2F5981B83A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54964" y="6073512"/>
            <a:ext cx="12082071" cy="70427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E3D556A-63BD-DA99-D634-27BDEA7856D4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312529" y="277090"/>
            <a:ext cx="615660" cy="68126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704" r:id="rId2"/>
    <p:sldLayoutId id="2147483660" r:id="rId3"/>
    <p:sldLayoutId id="2147483708" r:id="rId4"/>
    <p:sldLayoutId id="2147483707" r:id="rId5"/>
    <p:sldLayoutId id="2147483702" r:id="rId6"/>
    <p:sldLayoutId id="2147483650" r:id="rId7"/>
    <p:sldLayoutId id="2147483710" r:id="rId8"/>
    <p:sldLayoutId id="2147483703" r:id="rId9"/>
    <p:sldLayoutId id="2147483706" r:id="rId10"/>
    <p:sldLayoutId id="2147483662" r:id="rId11"/>
    <p:sldLayoutId id="2147483661" r:id="rId12"/>
    <p:sldLayoutId id="2147483652" r:id="rId13"/>
    <p:sldLayoutId id="2147483653" r:id="rId14"/>
    <p:sldLayoutId id="2147483654" r:id="rId15"/>
    <p:sldLayoutId id="2147483701" r:id="rId16"/>
    <p:sldLayoutId id="2147483655" r:id="rId17"/>
    <p:sldLayoutId id="2147483709" r:id="rId18"/>
    <p:sldLayoutId id="2147483656" r:id="rId19"/>
    <p:sldLayoutId id="2147483657" r:id="rId20"/>
    <p:sldLayoutId id="2147483666" r:id="rId21"/>
    <p:sldLayoutId id="2147483705" r:id="rId22"/>
  </p:sldLayoutIdLst>
  <p:transition spd="med">
    <p:pull/>
  </p:transition>
  <p:hf sldNum="0" hdr="0" ftr="0" dt="0"/>
  <p:txStyles>
    <p:titleStyle>
      <a:lvl1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800" b="1" i="0" baseline="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2pPr>
      <a:lvl3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3pPr>
      <a:lvl4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4pPr>
      <a:lvl5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5pPr>
      <a:lvl6pPr marL="609570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6pPr>
      <a:lvl7pPr marL="121913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7pPr>
      <a:lvl8pPr marL="182870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8pPr>
      <a:lvl9pPr marL="2438278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20000"/>
        </a:lnSpc>
        <a:spcBef>
          <a:spcPts val="0"/>
        </a:spcBef>
        <a:spcAft>
          <a:spcPct val="0"/>
        </a:spcAft>
        <a:buFontTx/>
        <a:buNone/>
        <a:defRPr sz="2400" baseline="0">
          <a:solidFill>
            <a:schemeClr val="accent6"/>
          </a:solidFill>
          <a:latin typeface="+mn-lt"/>
          <a:ea typeface="+mn-ea"/>
          <a:cs typeface="+mn-cs"/>
        </a:defRPr>
      </a:lvl1pPr>
      <a:lvl2pPr marL="0" indent="-24975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2pPr>
      <a:lvl3pPr marL="479976" indent="-247639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3pPr>
      <a:lvl4pPr marL="959952" indent="-260337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4pPr>
      <a:lvl5pPr marL="1439928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5pPr>
      <a:lvl6pPr marL="315579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6pPr>
      <a:lvl7pPr marL="376536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7pPr>
      <a:lvl8pPr marL="437493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8pPr>
      <a:lvl9pPr marL="4984501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nl-NL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BF10E93D-B647-6D86-9BDE-FF13E816ABC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noProof="0" dirty="0"/>
              <a:t>Subtitle</a:t>
            </a:r>
            <a:endParaRPr lang="en-GB" noProof="0" dirty="0">
              <a:cs typeface="Arial"/>
            </a:endParaRPr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8BD0816F-08F4-37D8-6D3E-593A6C33CC34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noProof="0" dirty="0"/>
              <a:t>Speaker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C442E86-11E8-0B62-36A3-070D2938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050" noProof="0" dirty="0"/>
              <a:t>Title</a:t>
            </a:r>
            <a:endParaRPr lang="en-GB" sz="5050" noProof="0" dirty="0">
              <a:cs typeface="Arial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5C160D-EABE-E128-3369-6AEB5A5D1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9562" y="7160077"/>
            <a:ext cx="12247606" cy="159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5113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3EECD7FE-4A19-F408-B6B0-F884B0AD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79" y="2301"/>
            <a:ext cx="11197642" cy="685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2917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F9402E-59EF-764B-B02D-1CFADB37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Disclosures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7F37ECFB-42C8-0242-D86E-9A54C8A15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2420457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F831D14D-8081-70D2-3B50-50B00E203BE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Divider 01</a:t>
            </a:r>
          </a:p>
        </p:txBody>
      </p:sp>
    </p:spTree>
    <p:extLst>
      <p:ext uri="{BB962C8B-B14F-4D97-AF65-F5344CB8AC3E}">
        <p14:creationId xmlns:p14="http://schemas.microsoft.com/office/powerpoint/2010/main" val="225318903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8810D9-0B14-81DB-A2F0-72365553E03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Divider 02</a:t>
            </a:r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8287546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D129744-DDA1-1F8E-C10A-86DFE389A1E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Divider 03</a:t>
            </a:r>
          </a:p>
          <a:p>
            <a:endParaRPr lang="en-GB" noProof="0" dirty="0"/>
          </a:p>
          <a:p>
            <a:endParaRPr lang="en-GB" noProof="0" dirty="0"/>
          </a:p>
        </p:txBody>
      </p:sp>
      <p:pic>
        <p:nvPicPr>
          <p:cNvPr id="4" name="Picture 9" descr="A group of men standing in front of a computer screen&#10;&#10;Description automatically generated">
            <a:extLst>
              <a:ext uri="{FF2B5EF4-FFF2-40B4-BE49-F238E27FC236}">
                <a16:creationId xmlns:a16="http://schemas.microsoft.com/office/drawing/2014/main" id="{77D9AF59-75A7-7F0E-93A6-795042BF4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14" r="29814"/>
          <a:stretch/>
        </p:blipFill>
        <p:spPr>
          <a:xfrm>
            <a:off x="6309360" y="188636"/>
            <a:ext cx="5631179" cy="651696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3548405-F7C9-B38B-6DE0-E41E4C26C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0448" y="0"/>
            <a:ext cx="6286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1700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al 18">
            <a:extLst>
              <a:ext uri="{FF2B5EF4-FFF2-40B4-BE49-F238E27FC236}">
                <a16:creationId xmlns:a16="http://schemas.microsoft.com/office/drawing/2014/main" id="{E4B1EE8B-5138-ECA6-99B9-55C2732F267B}"/>
              </a:ext>
            </a:extLst>
          </p:cNvPr>
          <p:cNvSpPr/>
          <p:nvPr/>
        </p:nvSpPr>
        <p:spPr bwMode="auto">
          <a:xfrm>
            <a:off x="5049161" y="2774522"/>
            <a:ext cx="2111512" cy="2111512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4" name="Afgeronde rechthoek 13">
            <a:extLst>
              <a:ext uri="{FF2B5EF4-FFF2-40B4-BE49-F238E27FC236}">
                <a16:creationId xmlns:a16="http://schemas.microsoft.com/office/drawing/2014/main" id="{BE769C9E-BE19-B75F-A78A-8243D3F8AFE5}"/>
              </a:ext>
            </a:extLst>
          </p:cNvPr>
          <p:cNvSpPr/>
          <p:nvPr/>
        </p:nvSpPr>
        <p:spPr bwMode="auto">
          <a:xfrm>
            <a:off x="7776368" y="4038169"/>
            <a:ext cx="4044157" cy="1808795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2" name="Afgeronde rechthoek 11">
            <a:extLst>
              <a:ext uri="{FF2B5EF4-FFF2-40B4-BE49-F238E27FC236}">
                <a16:creationId xmlns:a16="http://schemas.microsoft.com/office/drawing/2014/main" id="{FC43DF01-B355-EDA2-3C2D-17C70E9C5262}"/>
              </a:ext>
            </a:extLst>
          </p:cNvPr>
          <p:cNvSpPr/>
          <p:nvPr/>
        </p:nvSpPr>
        <p:spPr bwMode="auto">
          <a:xfrm>
            <a:off x="7776368" y="1762108"/>
            <a:ext cx="4044157" cy="1786027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D93A468B-92E7-2BD8-EBF2-693EF244A9E1}"/>
              </a:ext>
            </a:extLst>
          </p:cNvPr>
          <p:cNvSpPr/>
          <p:nvPr/>
        </p:nvSpPr>
        <p:spPr bwMode="auto">
          <a:xfrm>
            <a:off x="766763" y="3960111"/>
            <a:ext cx="3822490" cy="1878791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BFF46C63-2AFE-76B9-BB1A-0C33F7722319}"/>
              </a:ext>
            </a:extLst>
          </p:cNvPr>
          <p:cNvSpPr/>
          <p:nvPr/>
        </p:nvSpPr>
        <p:spPr bwMode="auto">
          <a:xfrm>
            <a:off x="766763" y="1762108"/>
            <a:ext cx="3822490" cy="1786027"/>
          </a:xfrm>
          <a:prstGeom prst="roundRect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2E93B5-50E3-E169-12A9-81D008E8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700" noProof="0" dirty="0">
                <a:ea typeface="+mj-lt"/>
                <a:cs typeface="+mj-lt"/>
              </a:rPr>
              <a:t>Hartwig Medical Foundation</a:t>
            </a:r>
            <a:endParaRPr lang="en-GB" noProof="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8A3DE5-69C7-B786-F135-3823D3AE02A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193369"/>
            <a:ext cx="12192000" cy="558800"/>
          </a:xfrm>
        </p:spPr>
        <p:txBody>
          <a:bodyPr/>
          <a:lstStyle/>
          <a:p>
            <a:pPr algn="ctr"/>
            <a:r>
              <a:rPr lang="en-GB" sz="2000" b="1" noProof="0" dirty="0">
                <a:solidFill>
                  <a:schemeClr val="accent2"/>
                </a:solidFill>
              </a:rPr>
              <a:t>Founded in 2015, philanthropically backed, not for </a:t>
            </a:r>
            <a:r>
              <a:rPr lang="en-GB" sz="2000" b="1" noProof="0" dirty="0" err="1">
                <a:solidFill>
                  <a:schemeClr val="accent2"/>
                </a:solidFill>
              </a:rPr>
              <a:t>profot</a:t>
            </a:r>
            <a:endParaRPr lang="en-GB" sz="2000" b="1" noProof="0" dirty="0">
              <a:solidFill>
                <a:schemeClr val="accent2"/>
              </a:solidFill>
            </a:endParaRPr>
          </a:p>
          <a:p>
            <a:pPr algn="ctr"/>
            <a:endParaRPr lang="en-GB" noProof="0" dirty="0">
              <a:solidFill>
                <a:schemeClr val="accent2"/>
              </a:solidFill>
            </a:endParaRPr>
          </a:p>
          <a:p>
            <a:pPr algn="ctr"/>
            <a:endParaRPr lang="en-GB" noProof="0" dirty="0">
              <a:solidFill>
                <a:schemeClr val="accent2"/>
              </a:solidFill>
            </a:endParaRPr>
          </a:p>
        </p:txBody>
      </p:sp>
      <p:sp>
        <p:nvSpPr>
          <p:cNvPr id="11" name="Rechthoek 20">
            <a:extLst>
              <a:ext uri="{FF2B5EF4-FFF2-40B4-BE49-F238E27FC236}">
                <a16:creationId xmlns:a16="http://schemas.microsoft.com/office/drawing/2014/main" id="{A49F5FB9-F3B4-7FDD-A096-E62652D8A643}"/>
              </a:ext>
            </a:extLst>
          </p:cNvPr>
          <p:cNvSpPr/>
          <p:nvPr/>
        </p:nvSpPr>
        <p:spPr>
          <a:xfrm>
            <a:off x="1023728" y="1974579"/>
            <a:ext cx="2863655" cy="12311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Employees </a:t>
            </a:r>
          </a:p>
          <a:p>
            <a:pPr marL="179705" indent="-17970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NL 58</a:t>
            </a:r>
            <a:endParaRPr lang="en-GB" sz="1600" b="1" noProof="0" dirty="0">
              <a:solidFill>
                <a:schemeClr val="accent1"/>
              </a:solidFill>
              <a:latin typeface="+mj-lt"/>
              <a:cs typeface="Calibri"/>
            </a:endParaRPr>
          </a:p>
          <a:p>
            <a:pPr marL="179705" indent="-17970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AUS 10</a:t>
            </a:r>
          </a:p>
          <a:p>
            <a:pPr marL="179705" indent="-17970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CAN 6</a:t>
            </a:r>
          </a:p>
          <a:p>
            <a:pPr marL="179705" indent="-17970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Spanje 2</a:t>
            </a:r>
          </a:p>
        </p:txBody>
      </p:sp>
      <p:sp>
        <p:nvSpPr>
          <p:cNvPr id="13" name="Rechthoek 21">
            <a:extLst>
              <a:ext uri="{FF2B5EF4-FFF2-40B4-BE49-F238E27FC236}">
                <a16:creationId xmlns:a16="http://schemas.microsoft.com/office/drawing/2014/main" id="{9997BE60-246C-E17B-76FD-50DA6087442D}"/>
              </a:ext>
            </a:extLst>
          </p:cNvPr>
          <p:cNvSpPr/>
          <p:nvPr/>
        </p:nvSpPr>
        <p:spPr>
          <a:xfrm>
            <a:off x="8237596" y="4344019"/>
            <a:ext cx="2825692" cy="7386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State-of-the-art whole </a:t>
            </a:r>
            <a:b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</a:br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genome sequencing </a:t>
            </a:r>
            <a:b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</a:br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analysis and assay</a:t>
            </a:r>
          </a:p>
        </p:txBody>
      </p:sp>
      <p:sp>
        <p:nvSpPr>
          <p:cNvPr id="22" name="Rechthoek 16">
            <a:extLst>
              <a:ext uri="{FF2B5EF4-FFF2-40B4-BE49-F238E27FC236}">
                <a16:creationId xmlns:a16="http://schemas.microsoft.com/office/drawing/2014/main" id="{E93B67C2-32E9-B180-38B8-63C5B1B538A8}"/>
              </a:ext>
            </a:extLst>
          </p:cNvPr>
          <p:cNvSpPr/>
          <p:nvPr/>
        </p:nvSpPr>
        <p:spPr>
          <a:xfrm>
            <a:off x="8237596" y="2024584"/>
            <a:ext cx="2997733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Independent foundation</a:t>
            </a:r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, Science Park Amsterdam,</a:t>
            </a:r>
            <a:endParaRPr lang="en-GB" sz="1600" b="1" noProof="0" dirty="0">
              <a:solidFill>
                <a:schemeClr val="accent1"/>
              </a:solidFill>
              <a:latin typeface="+mj-lt"/>
              <a:cs typeface="Times"/>
            </a:endParaRPr>
          </a:p>
          <a:p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ISO17025, ISO 27001 </a:t>
            </a:r>
          </a:p>
          <a:p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CE IVD pending</a:t>
            </a:r>
            <a:endParaRPr lang="en-GB" sz="1600" b="1" noProof="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6" name="Rechthoek 17">
            <a:extLst>
              <a:ext uri="{FF2B5EF4-FFF2-40B4-BE49-F238E27FC236}">
                <a16:creationId xmlns:a16="http://schemas.microsoft.com/office/drawing/2014/main" id="{9BB26C37-BE1E-7DE4-DBFF-E62890C29860}"/>
              </a:ext>
            </a:extLst>
          </p:cNvPr>
          <p:cNvSpPr/>
          <p:nvPr/>
        </p:nvSpPr>
        <p:spPr>
          <a:xfrm>
            <a:off x="1023728" y="4274175"/>
            <a:ext cx="3253644" cy="12311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Collaboration is key: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National: CPCT</a:t>
            </a:r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, KWF, NFU, PALGA, PMC, NKI, </a:t>
            </a:r>
            <a:r>
              <a:rPr lang="en-GB" sz="16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IKNL</a:t>
            </a:r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, HUB, </a:t>
            </a:r>
            <a:r>
              <a:rPr lang="en-GB" sz="1600" b="1" noProof="0" dirty="0" err="1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Oncode</a:t>
            </a:r>
            <a:r>
              <a:rPr lang="en-GB" sz="1600" b="1" noProof="0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 Institute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1"/>
                </a:solidFill>
                <a:latin typeface="+mj-lt"/>
                <a:ea typeface="Bitter" charset="0"/>
                <a:cs typeface="Arial"/>
              </a:rPr>
              <a:t>International: GEL, DKFZ</a:t>
            </a:r>
            <a:endParaRPr lang="en-GB" sz="1600" b="1" noProof="0" dirty="0">
              <a:solidFill>
                <a:schemeClr val="accent1"/>
              </a:solidFill>
              <a:latin typeface="+mj-lt"/>
              <a:ea typeface="Bitter" charset="0"/>
              <a:cs typeface="Arial"/>
            </a:endParaRPr>
          </a:p>
        </p:txBody>
      </p:sp>
      <p:grpSp>
        <p:nvGrpSpPr>
          <p:cNvPr id="71" name="Graphic 22">
            <a:extLst>
              <a:ext uri="{FF2B5EF4-FFF2-40B4-BE49-F238E27FC236}">
                <a16:creationId xmlns:a16="http://schemas.microsoft.com/office/drawing/2014/main" id="{7F219907-9B2A-6F9E-4686-B43B0A863B55}"/>
              </a:ext>
            </a:extLst>
          </p:cNvPr>
          <p:cNvGrpSpPr/>
          <p:nvPr/>
        </p:nvGrpSpPr>
        <p:grpSpPr>
          <a:xfrm>
            <a:off x="12657033" y="-537003"/>
            <a:ext cx="605967" cy="649546"/>
            <a:chOff x="7524065" y="2931331"/>
            <a:chExt cx="605967" cy="649546"/>
          </a:xfrm>
          <a:noFill/>
        </p:grpSpPr>
        <p:grpSp>
          <p:nvGrpSpPr>
            <p:cNvPr id="72" name="Graphic 22">
              <a:extLst>
                <a:ext uri="{FF2B5EF4-FFF2-40B4-BE49-F238E27FC236}">
                  <a16:creationId xmlns:a16="http://schemas.microsoft.com/office/drawing/2014/main" id="{C3E06FDB-40F1-115D-A9DE-A50B51B3B5E3}"/>
                </a:ext>
              </a:extLst>
            </p:cNvPr>
            <p:cNvGrpSpPr/>
            <p:nvPr/>
          </p:nvGrpSpPr>
          <p:grpSpPr>
            <a:xfrm>
              <a:off x="7524065" y="2931331"/>
              <a:ext cx="605967" cy="649546"/>
              <a:chOff x="7524065" y="2931331"/>
              <a:chExt cx="605967" cy="649546"/>
            </a:xfrm>
            <a:noFill/>
          </p:grpSpPr>
          <p:sp>
            <p:nvSpPr>
              <p:cNvPr id="73" name="Vrije vorm 72">
                <a:extLst>
                  <a:ext uri="{FF2B5EF4-FFF2-40B4-BE49-F238E27FC236}">
                    <a16:creationId xmlns:a16="http://schemas.microsoft.com/office/drawing/2014/main" id="{EE340988-3792-FEE9-E5E8-B4B74499CE50}"/>
                  </a:ext>
                </a:extLst>
              </p:cNvPr>
              <p:cNvSpPr/>
              <p:nvPr/>
            </p:nvSpPr>
            <p:spPr>
              <a:xfrm>
                <a:off x="7616759" y="2931331"/>
                <a:ext cx="513273" cy="513273"/>
              </a:xfrm>
              <a:custGeom>
                <a:avLst/>
                <a:gdLst>
                  <a:gd name="connsiteX0" fmla="*/ 513274 w 513273"/>
                  <a:gd name="connsiteY0" fmla="*/ 256637 h 513273"/>
                  <a:gd name="connsiteX1" fmla="*/ 256637 w 513273"/>
                  <a:gd name="connsiteY1" fmla="*/ 513273 h 513273"/>
                  <a:gd name="connsiteX2" fmla="*/ 0 w 513273"/>
                  <a:gd name="connsiteY2" fmla="*/ 256637 h 513273"/>
                  <a:gd name="connsiteX3" fmla="*/ 256637 w 513273"/>
                  <a:gd name="connsiteY3" fmla="*/ 0 h 513273"/>
                  <a:gd name="connsiteX4" fmla="*/ 513274 w 513273"/>
                  <a:gd name="connsiteY4" fmla="*/ 256637 h 513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273" h="513273">
                    <a:moveTo>
                      <a:pt x="513274" y="256637"/>
                    </a:moveTo>
                    <a:cubicBezTo>
                      <a:pt x="513274" y="398373"/>
                      <a:pt x="398373" y="513273"/>
                      <a:pt x="256637" y="513273"/>
                    </a:cubicBezTo>
                    <a:cubicBezTo>
                      <a:pt x="114900" y="513273"/>
                      <a:pt x="0" y="398373"/>
                      <a:pt x="0" y="256637"/>
                    </a:cubicBezTo>
                    <a:cubicBezTo>
                      <a:pt x="0" y="114900"/>
                      <a:pt x="114900" y="0"/>
                      <a:pt x="256637" y="0"/>
                    </a:cubicBezTo>
                    <a:cubicBezTo>
                      <a:pt x="398373" y="0"/>
                      <a:pt x="513274" y="114900"/>
                      <a:pt x="513274" y="256637"/>
                    </a:cubicBezTo>
                    <a:close/>
                  </a:path>
                </a:pathLst>
              </a:custGeom>
              <a:noFill/>
              <a:ln w="41799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74" name="Vrije vorm 73">
                <a:extLst>
                  <a:ext uri="{FF2B5EF4-FFF2-40B4-BE49-F238E27FC236}">
                    <a16:creationId xmlns:a16="http://schemas.microsoft.com/office/drawing/2014/main" id="{2E4136DD-C079-0DB2-C539-24E50859DB07}"/>
                  </a:ext>
                </a:extLst>
              </p:cNvPr>
              <p:cNvSpPr/>
              <p:nvPr/>
            </p:nvSpPr>
            <p:spPr>
              <a:xfrm>
                <a:off x="7524065" y="3371971"/>
                <a:ext cx="166710" cy="208906"/>
              </a:xfrm>
              <a:custGeom>
                <a:avLst/>
                <a:gdLst>
                  <a:gd name="connsiteX0" fmla="*/ 166710 w 166710"/>
                  <a:gd name="connsiteY0" fmla="*/ 0 h 208906"/>
                  <a:gd name="connsiteX1" fmla="*/ 0 w 166710"/>
                  <a:gd name="connsiteY1" fmla="*/ 208906 h 208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710" h="208906">
                    <a:moveTo>
                      <a:pt x="166710" y="0"/>
                    </a:moveTo>
                    <a:lnTo>
                      <a:pt x="0" y="208906"/>
                    </a:lnTo>
                  </a:path>
                </a:pathLst>
              </a:custGeom>
              <a:ln w="41799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  <p:sp>
          <p:nvSpPr>
            <p:cNvPr id="75" name="Vrije vorm 74">
              <a:extLst>
                <a:ext uri="{FF2B5EF4-FFF2-40B4-BE49-F238E27FC236}">
                  <a16:creationId xmlns:a16="http://schemas.microsoft.com/office/drawing/2014/main" id="{C5DF144E-C33D-53CB-57D3-5A8B6AAA3AF7}"/>
                </a:ext>
              </a:extLst>
            </p:cNvPr>
            <p:cNvSpPr/>
            <p:nvPr/>
          </p:nvSpPr>
          <p:spPr>
            <a:xfrm>
              <a:off x="7727438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6" name="Vrije vorm 75">
              <a:extLst>
                <a:ext uri="{FF2B5EF4-FFF2-40B4-BE49-F238E27FC236}">
                  <a16:creationId xmlns:a16="http://schemas.microsoft.com/office/drawing/2014/main" id="{281BF701-5EB7-240E-1C9F-85504148BC8A}"/>
                </a:ext>
              </a:extLst>
            </p:cNvPr>
            <p:cNvSpPr/>
            <p:nvPr/>
          </p:nvSpPr>
          <p:spPr>
            <a:xfrm>
              <a:off x="7815289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7" name="Vrije vorm 76">
              <a:extLst>
                <a:ext uri="{FF2B5EF4-FFF2-40B4-BE49-F238E27FC236}">
                  <a16:creationId xmlns:a16="http://schemas.microsoft.com/office/drawing/2014/main" id="{53B85864-9D57-87D4-107E-A38D781AC22B}"/>
                </a:ext>
              </a:extLst>
            </p:cNvPr>
            <p:cNvSpPr/>
            <p:nvPr/>
          </p:nvSpPr>
          <p:spPr>
            <a:xfrm>
              <a:off x="7896223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8" name="Vrije vorm 77">
              <a:extLst>
                <a:ext uri="{FF2B5EF4-FFF2-40B4-BE49-F238E27FC236}">
                  <a16:creationId xmlns:a16="http://schemas.microsoft.com/office/drawing/2014/main" id="{7FD81161-905E-5293-EAB0-44D2DB735D3C}"/>
                </a:ext>
              </a:extLst>
            </p:cNvPr>
            <p:cNvSpPr/>
            <p:nvPr/>
          </p:nvSpPr>
          <p:spPr>
            <a:xfrm>
              <a:off x="7727438" y="332908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79" name="Vrije vorm 78">
              <a:extLst>
                <a:ext uri="{FF2B5EF4-FFF2-40B4-BE49-F238E27FC236}">
                  <a16:creationId xmlns:a16="http://schemas.microsoft.com/office/drawing/2014/main" id="{64108933-BA3B-2B81-A5F4-F7A5B6432E25}"/>
                </a:ext>
              </a:extLst>
            </p:cNvPr>
            <p:cNvSpPr/>
            <p:nvPr/>
          </p:nvSpPr>
          <p:spPr>
            <a:xfrm>
              <a:off x="7896223" y="332908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0" name="Vrije vorm 79">
              <a:extLst>
                <a:ext uri="{FF2B5EF4-FFF2-40B4-BE49-F238E27FC236}">
                  <a16:creationId xmlns:a16="http://schemas.microsoft.com/office/drawing/2014/main" id="{32262AE9-1FC9-F4CF-CF33-D1BA9B71F103}"/>
                </a:ext>
              </a:extLst>
            </p:cNvPr>
            <p:cNvSpPr/>
            <p:nvPr/>
          </p:nvSpPr>
          <p:spPr>
            <a:xfrm>
              <a:off x="8038722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1" name="Vrije vorm 80">
              <a:extLst>
                <a:ext uri="{FF2B5EF4-FFF2-40B4-BE49-F238E27FC236}">
                  <a16:creationId xmlns:a16="http://schemas.microsoft.com/office/drawing/2014/main" id="{6B1C6049-63C4-7943-3C3A-544FFD8CE486}"/>
                </a:ext>
              </a:extLst>
            </p:cNvPr>
            <p:cNvSpPr/>
            <p:nvPr/>
          </p:nvSpPr>
          <p:spPr>
            <a:xfrm>
              <a:off x="7727438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2" name="Vrije vorm 81">
              <a:extLst>
                <a:ext uri="{FF2B5EF4-FFF2-40B4-BE49-F238E27FC236}">
                  <a16:creationId xmlns:a16="http://schemas.microsoft.com/office/drawing/2014/main" id="{8DB124B9-1696-F352-7093-31E0B622C364}"/>
                </a:ext>
              </a:extLst>
            </p:cNvPr>
            <p:cNvSpPr/>
            <p:nvPr/>
          </p:nvSpPr>
          <p:spPr>
            <a:xfrm>
              <a:off x="7815289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3" name="Vrije vorm 82">
              <a:extLst>
                <a:ext uri="{FF2B5EF4-FFF2-40B4-BE49-F238E27FC236}">
                  <a16:creationId xmlns:a16="http://schemas.microsoft.com/office/drawing/2014/main" id="{C6A1EDED-D680-CA7E-9752-54811548409D}"/>
                </a:ext>
              </a:extLst>
            </p:cNvPr>
            <p:cNvSpPr/>
            <p:nvPr/>
          </p:nvSpPr>
          <p:spPr>
            <a:xfrm>
              <a:off x="7959863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4" name="Vrije vorm 83">
              <a:extLst>
                <a:ext uri="{FF2B5EF4-FFF2-40B4-BE49-F238E27FC236}">
                  <a16:creationId xmlns:a16="http://schemas.microsoft.com/office/drawing/2014/main" id="{C24921E7-8307-4301-432F-6779D95C9850}"/>
                </a:ext>
              </a:extLst>
            </p:cNvPr>
            <p:cNvSpPr/>
            <p:nvPr/>
          </p:nvSpPr>
          <p:spPr>
            <a:xfrm>
              <a:off x="8038722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grpSp>
          <p:nvGrpSpPr>
            <p:cNvPr id="85" name="Graphic 22">
              <a:extLst>
                <a:ext uri="{FF2B5EF4-FFF2-40B4-BE49-F238E27FC236}">
                  <a16:creationId xmlns:a16="http://schemas.microsoft.com/office/drawing/2014/main" id="{9041C088-DFEC-C5A7-16C7-0B02C49CC276}"/>
                </a:ext>
              </a:extLst>
            </p:cNvPr>
            <p:cNvGrpSpPr/>
            <p:nvPr/>
          </p:nvGrpSpPr>
          <p:grpSpPr>
            <a:xfrm>
              <a:off x="7524065" y="2931331"/>
              <a:ext cx="605967" cy="649546"/>
              <a:chOff x="7524065" y="2931331"/>
              <a:chExt cx="605967" cy="649546"/>
            </a:xfrm>
            <a:noFill/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9BF49726-8D3D-2303-AD2B-C9AB410A76C2}"/>
                  </a:ext>
                </a:extLst>
              </p:cNvPr>
              <p:cNvSpPr/>
              <p:nvPr/>
            </p:nvSpPr>
            <p:spPr>
              <a:xfrm>
                <a:off x="7616759" y="2931331"/>
                <a:ext cx="513273" cy="513273"/>
              </a:xfrm>
              <a:custGeom>
                <a:avLst/>
                <a:gdLst>
                  <a:gd name="connsiteX0" fmla="*/ 513274 w 513273"/>
                  <a:gd name="connsiteY0" fmla="*/ 256637 h 513273"/>
                  <a:gd name="connsiteX1" fmla="*/ 256637 w 513273"/>
                  <a:gd name="connsiteY1" fmla="*/ 513273 h 513273"/>
                  <a:gd name="connsiteX2" fmla="*/ 0 w 513273"/>
                  <a:gd name="connsiteY2" fmla="*/ 256637 h 513273"/>
                  <a:gd name="connsiteX3" fmla="*/ 256637 w 513273"/>
                  <a:gd name="connsiteY3" fmla="*/ 0 h 513273"/>
                  <a:gd name="connsiteX4" fmla="*/ 513274 w 513273"/>
                  <a:gd name="connsiteY4" fmla="*/ 256637 h 513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273" h="513273">
                    <a:moveTo>
                      <a:pt x="513274" y="256637"/>
                    </a:moveTo>
                    <a:cubicBezTo>
                      <a:pt x="513274" y="398373"/>
                      <a:pt x="398373" y="513273"/>
                      <a:pt x="256637" y="513273"/>
                    </a:cubicBezTo>
                    <a:cubicBezTo>
                      <a:pt x="114900" y="513273"/>
                      <a:pt x="0" y="398373"/>
                      <a:pt x="0" y="256637"/>
                    </a:cubicBezTo>
                    <a:cubicBezTo>
                      <a:pt x="0" y="114900"/>
                      <a:pt x="114900" y="0"/>
                      <a:pt x="256637" y="0"/>
                    </a:cubicBezTo>
                    <a:cubicBezTo>
                      <a:pt x="398373" y="0"/>
                      <a:pt x="513274" y="114900"/>
                      <a:pt x="513274" y="256637"/>
                    </a:cubicBezTo>
                    <a:close/>
                  </a:path>
                </a:pathLst>
              </a:custGeom>
              <a:noFill/>
              <a:ln w="41799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3D1BB28A-B67C-F289-FF82-3AE8513EDB1E}"/>
                  </a:ext>
                </a:extLst>
              </p:cNvPr>
              <p:cNvSpPr/>
              <p:nvPr/>
            </p:nvSpPr>
            <p:spPr>
              <a:xfrm>
                <a:off x="7524065" y="3371971"/>
                <a:ext cx="166710" cy="208906"/>
              </a:xfrm>
              <a:custGeom>
                <a:avLst/>
                <a:gdLst>
                  <a:gd name="connsiteX0" fmla="*/ 166710 w 166710"/>
                  <a:gd name="connsiteY0" fmla="*/ 0 h 208906"/>
                  <a:gd name="connsiteX1" fmla="*/ 0 w 166710"/>
                  <a:gd name="connsiteY1" fmla="*/ 208906 h 208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710" h="208906">
                    <a:moveTo>
                      <a:pt x="166710" y="0"/>
                    </a:moveTo>
                    <a:lnTo>
                      <a:pt x="0" y="208906"/>
                    </a:lnTo>
                  </a:path>
                </a:pathLst>
              </a:custGeom>
              <a:ln w="41799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  <p:sp>
          <p:nvSpPr>
            <p:cNvPr id="88" name="Vrije vorm 87">
              <a:extLst>
                <a:ext uri="{FF2B5EF4-FFF2-40B4-BE49-F238E27FC236}">
                  <a16:creationId xmlns:a16="http://schemas.microsoft.com/office/drawing/2014/main" id="{585AFCC6-3449-EA2C-7F9F-7EFB578DAA52}"/>
                </a:ext>
              </a:extLst>
            </p:cNvPr>
            <p:cNvSpPr/>
            <p:nvPr/>
          </p:nvSpPr>
          <p:spPr>
            <a:xfrm>
              <a:off x="7727438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89" name="Vrije vorm 88">
              <a:extLst>
                <a:ext uri="{FF2B5EF4-FFF2-40B4-BE49-F238E27FC236}">
                  <a16:creationId xmlns:a16="http://schemas.microsoft.com/office/drawing/2014/main" id="{21544959-A057-EA7F-4287-D260EB9F16F0}"/>
                </a:ext>
              </a:extLst>
            </p:cNvPr>
            <p:cNvSpPr/>
            <p:nvPr/>
          </p:nvSpPr>
          <p:spPr>
            <a:xfrm>
              <a:off x="7815289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" name="Vrije vorm 89">
              <a:extLst>
                <a:ext uri="{FF2B5EF4-FFF2-40B4-BE49-F238E27FC236}">
                  <a16:creationId xmlns:a16="http://schemas.microsoft.com/office/drawing/2014/main" id="{ACBF8D9E-EAAF-E0A8-427E-0F352CAEF99A}"/>
                </a:ext>
              </a:extLst>
            </p:cNvPr>
            <p:cNvSpPr/>
            <p:nvPr/>
          </p:nvSpPr>
          <p:spPr>
            <a:xfrm>
              <a:off x="7896223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1" name="Vrije vorm 90">
              <a:extLst>
                <a:ext uri="{FF2B5EF4-FFF2-40B4-BE49-F238E27FC236}">
                  <a16:creationId xmlns:a16="http://schemas.microsoft.com/office/drawing/2014/main" id="{A6C48815-79E7-4B28-993B-C1DBD2EA1DE7}"/>
                </a:ext>
              </a:extLst>
            </p:cNvPr>
            <p:cNvSpPr/>
            <p:nvPr/>
          </p:nvSpPr>
          <p:spPr>
            <a:xfrm>
              <a:off x="7727438" y="332908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" name="Vrije vorm 91">
              <a:extLst>
                <a:ext uri="{FF2B5EF4-FFF2-40B4-BE49-F238E27FC236}">
                  <a16:creationId xmlns:a16="http://schemas.microsoft.com/office/drawing/2014/main" id="{CA5C0E75-109F-A505-BF53-9761B8DE95B2}"/>
                </a:ext>
              </a:extLst>
            </p:cNvPr>
            <p:cNvSpPr/>
            <p:nvPr/>
          </p:nvSpPr>
          <p:spPr>
            <a:xfrm>
              <a:off x="7896223" y="332908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3" name="Vrije vorm 92">
              <a:extLst>
                <a:ext uri="{FF2B5EF4-FFF2-40B4-BE49-F238E27FC236}">
                  <a16:creationId xmlns:a16="http://schemas.microsoft.com/office/drawing/2014/main" id="{E496327D-A8FD-3CB5-9F34-8C2C8F021271}"/>
                </a:ext>
              </a:extLst>
            </p:cNvPr>
            <p:cNvSpPr/>
            <p:nvPr/>
          </p:nvSpPr>
          <p:spPr>
            <a:xfrm>
              <a:off x="8038722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4" name="Vrije vorm 93">
              <a:extLst>
                <a:ext uri="{FF2B5EF4-FFF2-40B4-BE49-F238E27FC236}">
                  <a16:creationId xmlns:a16="http://schemas.microsoft.com/office/drawing/2014/main" id="{3338720F-13FD-1EF2-DBCC-E91FD9B1FA68}"/>
                </a:ext>
              </a:extLst>
            </p:cNvPr>
            <p:cNvSpPr/>
            <p:nvPr/>
          </p:nvSpPr>
          <p:spPr>
            <a:xfrm>
              <a:off x="7727438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5" name="Vrije vorm 94">
              <a:extLst>
                <a:ext uri="{FF2B5EF4-FFF2-40B4-BE49-F238E27FC236}">
                  <a16:creationId xmlns:a16="http://schemas.microsoft.com/office/drawing/2014/main" id="{68A652D2-F514-FCC6-E30D-1C6C55C93706}"/>
                </a:ext>
              </a:extLst>
            </p:cNvPr>
            <p:cNvSpPr/>
            <p:nvPr/>
          </p:nvSpPr>
          <p:spPr>
            <a:xfrm>
              <a:off x="7815289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6" name="Vrije vorm 95">
              <a:extLst>
                <a:ext uri="{FF2B5EF4-FFF2-40B4-BE49-F238E27FC236}">
                  <a16:creationId xmlns:a16="http://schemas.microsoft.com/office/drawing/2014/main" id="{1E7E65E3-0CD9-5DA8-5B1B-CBC27460A010}"/>
                </a:ext>
              </a:extLst>
            </p:cNvPr>
            <p:cNvSpPr/>
            <p:nvPr/>
          </p:nvSpPr>
          <p:spPr>
            <a:xfrm>
              <a:off x="7959863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7" name="Vrije vorm 96">
              <a:extLst>
                <a:ext uri="{FF2B5EF4-FFF2-40B4-BE49-F238E27FC236}">
                  <a16:creationId xmlns:a16="http://schemas.microsoft.com/office/drawing/2014/main" id="{D9AC7DE5-9221-1AA3-C4AB-89F61C812976}"/>
                </a:ext>
              </a:extLst>
            </p:cNvPr>
            <p:cNvSpPr/>
            <p:nvPr/>
          </p:nvSpPr>
          <p:spPr>
            <a:xfrm>
              <a:off x="8038722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grpSp>
          <p:nvGrpSpPr>
            <p:cNvPr id="98" name="Graphic 22">
              <a:extLst>
                <a:ext uri="{FF2B5EF4-FFF2-40B4-BE49-F238E27FC236}">
                  <a16:creationId xmlns:a16="http://schemas.microsoft.com/office/drawing/2014/main" id="{72B57C3F-1646-4BB2-DB14-FFD9E7A15A5D}"/>
                </a:ext>
              </a:extLst>
            </p:cNvPr>
            <p:cNvGrpSpPr/>
            <p:nvPr/>
          </p:nvGrpSpPr>
          <p:grpSpPr>
            <a:xfrm>
              <a:off x="7524065" y="2931331"/>
              <a:ext cx="605967" cy="649546"/>
              <a:chOff x="7524065" y="2931331"/>
              <a:chExt cx="605967" cy="649546"/>
            </a:xfrm>
            <a:noFill/>
          </p:grpSpPr>
          <p:sp>
            <p:nvSpPr>
              <p:cNvPr id="99" name="Vrije vorm 98">
                <a:extLst>
                  <a:ext uri="{FF2B5EF4-FFF2-40B4-BE49-F238E27FC236}">
                    <a16:creationId xmlns:a16="http://schemas.microsoft.com/office/drawing/2014/main" id="{666E6827-A1B6-F7CB-D5D3-E401961D7D36}"/>
                  </a:ext>
                </a:extLst>
              </p:cNvPr>
              <p:cNvSpPr/>
              <p:nvPr/>
            </p:nvSpPr>
            <p:spPr>
              <a:xfrm>
                <a:off x="7616759" y="2931331"/>
                <a:ext cx="513273" cy="513273"/>
              </a:xfrm>
              <a:custGeom>
                <a:avLst/>
                <a:gdLst>
                  <a:gd name="connsiteX0" fmla="*/ 513274 w 513273"/>
                  <a:gd name="connsiteY0" fmla="*/ 256637 h 513273"/>
                  <a:gd name="connsiteX1" fmla="*/ 256637 w 513273"/>
                  <a:gd name="connsiteY1" fmla="*/ 513273 h 513273"/>
                  <a:gd name="connsiteX2" fmla="*/ 0 w 513273"/>
                  <a:gd name="connsiteY2" fmla="*/ 256637 h 513273"/>
                  <a:gd name="connsiteX3" fmla="*/ 256637 w 513273"/>
                  <a:gd name="connsiteY3" fmla="*/ 0 h 513273"/>
                  <a:gd name="connsiteX4" fmla="*/ 513274 w 513273"/>
                  <a:gd name="connsiteY4" fmla="*/ 256637 h 513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3273" h="513273">
                    <a:moveTo>
                      <a:pt x="513274" y="256637"/>
                    </a:moveTo>
                    <a:cubicBezTo>
                      <a:pt x="513274" y="398373"/>
                      <a:pt x="398373" y="513273"/>
                      <a:pt x="256637" y="513273"/>
                    </a:cubicBezTo>
                    <a:cubicBezTo>
                      <a:pt x="114900" y="513273"/>
                      <a:pt x="0" y="398373"/>
                      <a:pt x="0" y="256637"/>
                    </a:cubicBezTo>
                    <a:cubicBezTo>
                      <a:pt x="0" y="114900"/>
                      <a:pt x="114900" y="0"/>
                      <a:pt x="256637" y="0"/>
                    </a:cubicBezTo>
                    <a:cubicBezTo>
                      <a:pt x="398373" y="0"/>
                      <a:pt x="513274" y="114900"/>
                      <a:pt x="513274" y="256637"/>
                    </a:cubicBezTo>
                    <a:close/>
                  </a:path>
                </a:pathLst>
              </a:custGeom>
              <a:noFill/>
              <a:ln w="41799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100" name="Vrije vorm 99">
                <a:extLst>
                  <a:ext uri="{FF2B5EF4-FFF2-40B4-BE49-F238E27FC236}">
                    <a16:creationId xmlns:a16="http://schemas.microsoft.com/office/drawing/2014/main" id="{B4EEFB1A-5E90-CAEE-6ED9-3EF6897703B9}"/>
                  </a:ext>
                </a:extLst>
              </p:cNvPr>
              <p:cNvSpPr/>
              <p:nvPr/>
            </p:nvSpPr>
            <p:spPr>
              <a:xfrm>
                <a:off x="7524065" y="3371971"/>
                <a:ext cx="166710" cy="208906"/>
              </a:xfrm>
              <a:custGeom>
                <a:avLst/>
                <a:gdLst>
                  <a:gd name="connsiteX0" fmla="*/ 166710 w 166710"/>
                  <a:gd name="connsiteY0" fmla="*/ 0 h 208906"/>
                  <a:gd name="connsiteX1" fmla="*/ 0 w 166710"/>
                  <a:gd name="connsiteY1" fmla="*/ 208906 h 208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710" h="208906">
                    <a:moveTo>
                      <a:pt x="166710" y="0"/>
                    </a:moveTo>
                    <a:lnTo>
                      <a:pt x="0" y="208906"/>
                    </a:lnTo>
                  </a:path>
                </a:pathLst>
              </a:custGeom>
              <a:ln w="41799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  <p:sp>
          <p:nvSpPr>
            <p:cNvPr id="101" name="Vrije vorm 100">
              <a:extLst>
                <a:ext uri="{FF2B5EF4-FFF2-40B4-BE49-F238E27FC236}">
                  <a16:creationId xmlns:a16="http://schemas.microsoft.com/office/drawing/2014/main" id="{EE67B980-217F-9C20-A619-A4B544C242B4}"/>
                </a:ext>
              </a:extLst>
            </p:cNvPr>
            <p:cNvSpPr/>
            <p:nvPr/>
          </p:nvSpPr>
          <p:spPr>
            <a:xfrm>
              <a:off x="7727438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2" name="Vrije vorm 101">
              <a:extLst>
                <a:ext uri="{FF2B5EF4-FFF2-40B4-BE49-F238E27FC236}">
                  <a16:creationId xmlns:a16="http://schemas.microsoft.com/office/drawing/2014/main" id="{2572EFB7-8770-3705-0127-EAB943F37F27}"/>
                </a:ext>
              </a:extLst>
            </p:cNvPr>
            <p:cNvSpPr/>
            <p:nvPr/>
          </p:nvSpPr>
          <p:spPr>
            <a:xfrm>
              <a:off x="7815289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3" name="Vrije vorm 102">
              <a:extLst>
                <a:ext uri="{FF2B5EF4-FFF2-40B4-BE49-F238E27FC236}">
                  <a16:creationId xmlns:a16="http://schemas.microsoft.com/office/drawing/2014/main" id="{D99FEA5B-08CC-5877-D989-D23389E4D6BC}"/>
                </a:ext>
              </a:extLst>
            </p:cNvPr>
            <p:cNvSpPr/>
            <p:nvPr/>
          </p:nvSpPr>
          <p:spPr>
            <a:xfrm>
              <a:off x="7896223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4" name="Vrije vorm 103">
              <a:extLst>
                <a:ext uri="{FF2B5EF4-FFF2-40B4-BE49-F238E27FC236}">
                  <a16:creationId xmlns:a16="http://schemas.microsoft.com/office/drawing/2014/main" id="{A98450C7-24DD-A9DF-0447-CA87DA3470C8}"/>
                </a:ext>
              </a:extLst>
            </p:cNvPr>
            <p:cNvSpPr/>
            <p:nvPr/>
          </p:nvSpPr>
          <p:spPr>
            <a:xfrm>
              <a:off x="7727438" y="332908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5" name="Vrije vorm 104">
              <a:extLst>
                <a:ext uri="{FF2B5EF4-FFF2-40B4-BE49-F238E27FC236}">
                  <a16:creationId xmlns:a16="http://schemas.microsoft.com/office/drawing/2014/main" id="{8CFA68C1-E51C-0D42-E3D3-7DEB0FFA8F88}"/>
                </a:ext>
              </a:extLst>
            </p:cNvPr>
            <p:cNvSpPr/>
            <p:nvPr/>
          </p:nvSpPr>
          <p:spPr>
            <a:xfrm>
              <a:off x="7896223" y="332908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6" name="Vrije vorm 105">
              <a:extLst>
                <a:ext uri="{FF2B5EF4-FFF2-40B4-BE49-F238E27FC236}">
                  <a16:creationId xmlns:a16="http://schemas.microsoft.com/office/drawing/2014/main" id="{C6F3AEDB-E466-BBC3-6798-9DF15EBBFC1D}"/>
                </a:ext>
              </a:extLst>
            </p:cNvPr>
            <p:cNvSpPr/>
            <p:nvPr/>
          </p:nvSpPr>
          <p:spPr>
            <a:xfrm>
              <a:off x="8038722" y="3022641"/>
              <a:ext cx="6917" cy="56031"/>
            </a:xfrm>
            <a:custGeom>
              <a:avLst/>
              <a:gdLst>
                <a:gd name="connsiteX0" fmla="*/ 0 w 6917"/>
                <a:gd name="connsiteY0" fmla="*/ 0 h 56031"/>
                <a:gd name="connsiteX1" fmla="*/ 0 w 6917"/>
                <a:gd name="connsiteY1" fmla="*/ 56031 h 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031">
                  <a:moveTo>
                    <a:pt x="0" y="0"/>
                  </a:moveTo>
                  <a:lnTo>
                    <a:pt x="0" y="56031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7" name="Vrije vorm 106">
              <a:extLst>
                <a:ext uri="{FF2B5EF4-FFF2-40B4-BE49-F238E27FC236}">
                  <a16:creationId xmlns:a16="http://schemas.microsoft.com/office/drawing/2014/main" id="{C70DDC28-9967-879D-8603-EC0F3654F047}"/>
                </a:ext>
              </a:extLst>
            </p:cNvPr>
            <p:cNvSpPr/>
            <p:nvPr/>
          </p:nvSpPr>
          <p:spPr>
            <a:xfrm>
              <a:off x="7727438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8" name="Vrije vorm 107">
              <a:extLst>
                <a:ext uri="{FF2B5EF4-FFF2-40B4-BE49-F238E27FC236}">
                  <a16:creationId xmlns:a16="http://schemas.microsoft.com/office/drawing/2014/main" id="{3A278115-9442-3B7B-7109-B2028A920B9D}"/>
                </a:ext>
              </a:extLst>
            </p:cNvPr>
            <p:cNvSpPr/>
            <p:nvPr/>
          </p:nvSpPr>
          <p:spPr>
            <a:xfrm>
              <a:off x="7815289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09" name="Vrije vorm 108">
              <a:extLst>
                <a:ext uri="{FF2B5EF4-FFF2-40B4-BE49-F238E27FC236}">
                  <a16:creationId xmlns:a16="http://schemas.microsoft.com/office/drawing/2014/main" id="{5169E843-49D1-6373-D4FD-CFE62881CC68}"/>
                </a:ext>
              </a:extLst>
            </p:cNvPr>
            <p:cNvSpPr/>
            <p:nvPr/>
          </p:nvSpPr>
          <p:spPr>
            <a:xfrm>
              <a:off x="7959863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110" name="Vrije vorm 109">
              <a:extLst>
                <a:ext uri="{FF2B5EF4-FFF2-40B4-BE49-F238E27FC236}">
                  <a16:creationId xmlns:a16="http://schemas.microsoft.com/office/drawing/2014/main" id="{521B9C31-2D11-032C-6F42-A2F4B4C313D0}"/>
                </a:ext>
              </a:extLst>
            </p:cNvPr>
            <p:cNvSpPr/>
            <p:nvPr/>
          </p:nvSpPr>
          <p:spPr>
            <a:xfrm>
              <a:off x="8038722" y="3174133"/>
              <a:ext cx="6917" cy="56722"/>
            </a:xfrm>
            <a:custGeom>
              <a:avLst/>
              <a:gdLst>
                <a:gd name="connsiteX0" fmla="*/ 0 w 6917"/>
                <a:gd name="connsiteY0" fmla="*/ 0 h 56722"/>
                <a:gd name="connsiteX1" fmla="*/ 0 w 6917"/>
                <a:gd name="connsiteY1" fmla="*/ 56723 h 5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17" h="56722">
                  <a:moveTo>
                    <a:pt x="0" y="0"/>
                  </a:moveTo>
                  <a:lnTo>
                    <a:pt x="0" y="56723"/>
                  </a:lnTo>
                </a:path>
              </a:pathLst>
            </a:custGeom>
            <a:ln w="41799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pic>
        <p:nvPicPr>
          <p:cNvPr id="4" name="Afbeelding 3">
            <a:extLst>
              <a:ext uri="{FF2B5EF4-FFF2-40B4-BE49-F238E27FC236}">
                <a16:creationId xmlns:a16="http://schemas.microsoft.com/office/drawing/2014/main" id="{0706685F-BB0F-EA99-557D-D1E74A87E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082" y="2821725"/>
            <a:ext cx="1329836" cy="15367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D6D14274-7443-E0CD-655F-E15BBC037344}"/>
              </a:ext>
            </a:extLst>
          </p:cNvPr>
          <p:cNvSpPr txBox="1"/>
          <p:nvPr/>
        </p:nvSpPr>
        <p:spPr>
          <a:xfrm>
            <a:off x="-795130" y="397565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GB" sz="1600" noProof="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EADED3FB-D8D8-1878-DE30-009F3F0B5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689" y="4776895"/>
            <a:ext cx="916029" cy="916029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A81FB2DF-768A-AC55-E552-264BB5E04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110" y="4776895"/>
            <a:ext cx="916029" cy="91602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3E0371FB-85AC-2A75-A556-8097F61F7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689" y="2181452"/>
            <a:ext cx="916029" cy="916029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61029A22-24E5-BFE1-DE20-A26F0404CE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110" y="2181452"/>
            <a:ext cx="916029" cy="91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761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kstvak 5">
            <a:extLst>
              <a:ext uri="{FF2B5EF4-FFF2-40B4-BE49-F238E27FC236}">
                <a16:creationId xmlns:a16="http://schemas.microsoft.com/office/drawing/2014/main" id="{9C39F064-0096-DF4D-37F0-78704EF5B9CF}"/>
              </a:ext>
            </a:extLst>
          </p:cNvPr>
          <p:cNvSpPr txBox="1"/>
          <p:nvPr/>
        </p:nvSpPr>
        <p:spPr>
          <a:xfrm>
            <a:off x="2217952" y="1676292"/>
            <a:ext cx="9586698" cy="615883"/>
          </a:xfrm>
          <a:prstGeom prst="roundRect">
            <a:avLst/>
          </a:prstGeom>
          <a:solidFill>
            <a:schemeClr val="bg1"/>
          </a:solidFill>
          <a:ln w="25400">
            <a:noFill/>
          </a:ln>
          <a:effectLst/>
        </p:spPr>
        <p:txBody>
          <a:bodyPr wrap="square" lIns="432000" tIns="108000" rIns="144000" bIns="108000" rtlCol="0" anchor="ctr" anchorCtr="0">
            <a:spAutoFit/>
          </a:bodyPr>
          <a:lstStyle/>
          <a:p>
            <a:r>
              <a:rPr lang="en-GB" sz="22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Stimulate and improve scientific research</a:t>
            </a:r>
            <a:endParaRPr lang="en-GB" sz="2200" b="1" noProof="0" dirty="0">
              <a:solidFill>
                <a:schemeClr val="accent1"/>
              </a:solidFill>
              <a:latin typeface="+mj-lt"/>
              <a:cs typeface="Times" charset="0"/>
            </a:endParaRPr>
          </a:p>
        </p:txBody>
      </p:sp>
      <p:sp>
        <p:nvSpPr>
          <p:cNvPr id="40" name="Tekstvak 5">
            <a:extLst>
              <a:ext uri="{FF2B5EF4-FFF2-40B4-BE49-F238E27FC236}">
                <a16:creationId xmlns:a16="http://schemas.microsoft.com/office/drawing/2014/main" id="{8866003F-69BD-6640-910E-E03F6B64B0F9}"/>
              </a:ext>
            </a:extLst>
          </p:cNvPr>
          <p:cNvSpPr txBox="1"/>
          <p:nvPr/>
        </p:nvSpPr>
        <p:spPr>
          <a:xfrm>
            <a:off x="2217952" y="2762139"/>
            <a:ext cx="9586698" cy="615883"/>
          </a:xfrm>
          <a:prstGeom prst="roundRect">
            <a:avLst/>
          </a:prstGeom>
          <a:solidFill>
            <a:schemeClr val="bg1"/>
          </a:solidFill>
          <a:ln w="25400">
            <a:noFill/>
          </a:ln>
          <a:effectLst/>
        </p:spPr>
        <p:txBody>
          <a:bodyPr wrap="square" lIns="432000" tIns="108000" rIns="144000" bIns="108000" rtlCol="0" anchor="ctr" anchorCtr="0">
            <a:spAutoFit/>
          </a:bodyPr>
          <a:lstStyle/>
          <a:p>
            <a:r>
              <a:rPr lang="en-GB" sz="22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Improve diagnostics and care</a:t>
            </a:r>
          </a:p>
        </p:txBody>
      </p:sp>
      <p:sp>
        <p:nvSpPr>
          <p:cNvPr id="45" name="Tekstvak 5">
            <a:extLst>
              <a:ext uri="{FF2B5EF4-FFF2-40B4-BE49-F238E27FC236}">
                <a16:creationId xmlns:a16="http://schemas.microsoft.com/office/drawing/2014/main" id="{EB3D83B9-7887-F241-AB9E-E42719598C5E}"/>
              </a:ext>
            </a:extLst>
          </p:cNvPr>
          <p:cNvSpPr txBox="1"/>
          <p:nvPr/>
        </p:nvSpPr>
        <p:spPr>
          <a:xfrm>
            <a:off x="2217952" y="4982094"/>
            <a:ext cx="9586698" cy="615883"/>
          </a:xfrm>
          <a:prstGeom prst="roundRect">
            <a:avLst/>
          </a:prstGeom>
          <a:solidFill>
            <a:schemeClr val="bg1"/>
          </a:solidFill>
          <a:ln w="25400">
            <a:noFill/>
          </a:ln>
          <a:effectLst/>
        </p:spPr>
        <p:txBody>
          <a:bodyPr wrap="square" lIns="432000" tIns="108000" rIns="144000" bIns="108000" rtlCol="0" anchor="ctr" anchorCtr="0">
            <a:spAutoFit/>
          </a:bodyPr>
          <a:lstStyle/>
          <a:p>
            <a:r>
              <a:rPr lang="en-GB" sz="22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Systematically collected and database clinical and genetic data</a:t>
            </a:r>
            <a:endParaRPr lang="en-GB" sz="2200" b="1" noProof="0" dirty="0">
              <a:solidFill>
                <a:schemeClr val="accent1"/>
              </a:solidFill>
              <a:latin typeface="+mj-lt"/>
              <a:cs typeface="Times"/>
            </a:endParaRPr>
          </a:p>
        </p:txBody>
      </p:sp>
      <p:sp>
        <p:nvSpPr>
          <p:cNvPr id="46" name="Tekstvak 5">
            <a:extLst>
              <a:ext uri="{FF2B5EF4-FFF2-40B4-BE49-F238E27FC236}">
                <a16:creationId xmlns:a16="http://schemas.microsoft.com/office/drawing/2014/main" id="{C2BCD040-DB49-6247-846B-CC3826165FA0}"/>
              </a:ext>
            </a:extLst>
          </p:cNvPr>
          <p:cNvSpPr txBox="1"/>
          <p:nvPr/>
        </p:nvSpPr>
        <p:spPr>
          <a:xfrm>
            <a:off x="2217953" y="3915891"/>
            <a:ext cx="9600828" cy="615883"/>
          </a:xfrm>
          <a:prstGeom prst="roundRect">
            <a:avLst/>
          </a:prstGeom>
          <a:solidFill>
            <a:schemeClr val="bg1"/>
          </a:solidFill>
          <a:ln w="25400">
            <a:noFill/>
          </a:ln>
          <a:effectLst/>
        </p:spPr>
        <p:txBody>
          <a:bodyPr wrap="square" lIns="432000" tIns="108000" rIns="144000" bIns="108000" rtlCol="0" anchor="ctr" anchorCtr="0">
            <a:spAutoFit/>
          </a:bodyPr>
          <a:lstStyle/>
          <a:p>
            <a:r>
              <a:rPr lang="en-GB" sz="2200" b="1" noProof="0" dirty="0">
                <a:solidFill>
                  <a:schemeClr val="accent1"/>
                </a:solidFill>
                <a:latin typeface="+mj-lt"/>
                <a:ea typeface="ＭＳ Ｐゴシック"/>
                <a:cs typeface="Arial"/>
              </a:rPr>
              <a:t>Implement complete molecular diagnostics in routine care</a:t>
            </a:r>
            <a:endParaRPr lang="en-GB" sz="2200" b="1" noProof="0" dirty="0">
              <a:solidFill>
                <a:schemeClr val="accent1"/>
              </a:solidFill>
              <a:latin typeface="+mj-lt"/>
              <a:cs typeface="Time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9F053EA-10D7-2686-F7FC-DAB8DE89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Mission</a:t>
            </a: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720E3023-26E1-937F-C76D-58AF5EAA7438}"/>
              </a:ext>
            </a:extLst>
          </p:cNvPr>
          <p:cNvGrpSpPr/>
          <p:nvPr/>
        </p:nvGrpSpPr>
        <p:grpSpPr>
          <a:xfrm>
            <a:off x="1414411" y="3676489"/>
            <a:ext cx="1023778" cy="1023778"/>
            <a:chOff x="1414411" y="4037364"/>
            <a:chExt cx="1023778" cy="1023778"/>
          </a:xfrm>
        </p:grpSpPr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F70267E6-D182-0F35-611E-37735CB34554}"/>
                </a:ext>
              </a:extLst>
            </p:cNvPr>
            <p:cNvSpPr/>
            <p:nvPr/>
          </p:nvSpPr>
          <p:spPr bwMode="auto">
            <a:xfrm>
              <a:off x="1414411" y="4037364"/>
              <a:ext cx="1023778" cy="102377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68E07E73-72BF-A999-F194-FEC006FDC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684" y="4304718"/>
              <a:ext cx="483938" cy="514827"/>
            </a:xfrm>
            <a:prstGeom prst="rect">
              <a:avLst/>
            </a:prstGeom>
          </p:spPr>
        </p:pic>
      </p:grpSp>
      <p:grpSp>
        <p:nvGrpSpPr>
          <p:cNvPr id="10" name="Groep 9">
            <a:extLst>
              <a:ext uri="{FF2B5EF4-FFF2-40B4-BE49-F238E27FC236}">
                <a16:creationId xmlns:a16="http://schemas.microsoft.com/office/drawing/2014/main" id="{1A646B3F-1C45-47B3-EF10-90D1FA4DF15C}"/>
              </a:ext>
            </a:extLst>
          </p:cNvPr>
          <p:cNvGrpSpPr/>
          <p:nvPr/>
        </p:nvGrpSpPr>
        <p:grpSpPr>
          <a:xfrm>
            <a:off x="1414411" y="1426816"/>
            <a:ext cx="1023778" cy="1023778"/>
            <a:chOff x="1414411" y="1426816"/>
            <a:chExt cx="1023778" cy="1023778"/>
          </a:xfrm>
        </p:grpSpPr>
        <p:sp>
          <p:nvSpPr>
            <p:cNvPr id="36" name="Ovaal 35">
              <a:extLst>
                <a:ext uri="{FF2B5EF4-FFF2-40B4-BE49-F238E27FC236}">
                  <a16:creationId xmlns:a16="http://schemas.microsoft.com/office/drawing/2014/main" id="{0AAF8A32-2A4E-94F8-D5F9-8FAC1E214910}"/>
                </a:ext>
              </a:extLst>
            </p:cNvPr>
            <p:cNvSpPr/>
            <p:nvPr/>
          </p:nvSpPr>
          <p:spPr bwMode="auto">
            <a:xfrm>
              <a:off x="1414411" y="1426816"/>
              <a:ext cx="1023778" cy="102377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pic>
          <p:nvPicPr>
            <p:cNvPr id="2" name="Afbeelding 1">
              <a:extLst>
                <a:ext uri="{FF2B5EF4-FFF2-40B4-BE49-F238E27FC236}">
                  <a16:creationId xmlns:a16="http://schemas.microsoft.com/office/drawing/2014/main" id="{964635F7-C63F-283D-73E2-AF0F48E88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2705" y="1583500"/>
              <a:ext cx="600277" cy="655973"/>
            </a:xfrm>
            <a:prstGeom prst="rect">
              <a:avLst/>
            </a:prstGeom>
          </p:spPr>
        </p:pic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B2B8A410-73F5-50AD-7907-F0E165932B58}"/>
              </a:ext>
            </a:extLst>
          </p:cNvPr>
          <p:cNvGrpSpPr/>
          <p:nvPr/>
        </p:nvGrpSpPr>
        <p:grpSpPr>
          <a:xfrm>
            <a:off x="1414411" y="2549116"/>
            <a:ext cx="1023778" cy="1023778"/>
            <a:chOff x="1414411" y="2763506"/>
            <a:chExt cx="1023778" cy="1023778"/>
          </a:xfrm>
        </p:grpSpPr>
        <p:sp>
          <p:nvSpPr>
            <p:cNvPr id="34" name="Ovaal 33">
              <a:extLst>
                <a:ext uri="{FF2B5EF4-FFF2-40B4-BE49-F238E27FC236}">
                  <a16:creationId xmlns:a16="http://schemas.microsoft.com/office/drawing/2014/main" id="{E4390757-9ADB-26BA-2ADB-8CB981E19D27}"/>
                </a:ext>
              </a:extLst>
            </p:cNvPr>
            <p:cNvSpPr/>
            <p:nvPr/>
          </p:nvSpPr>
          <p:spPr bwMode="auto">
            <a:xfrm>
              <a:off x="1414411" y="2763506"/>
              <a:ext cx="1023778" cy="102377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pic>
          <p:nvPicPr>
            <p:cNvPr id="3" name="Afbeelding 2">
              <a:extLst>
                <a:ext uri="{FF2B5EF4-FFF2-40B4-BE49-F238E27FC236}">
                  <a16:creationId xmlns:a16="http://schemas.microsoft.com/office/drawing/2014/main" id="{56A12E94-A0D8-2974-CA5D-8299D1098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3811" y="2925695"/>
              <a:ext cx="558066" cy="664099"/>
            </a:xfrm>
            <a:prstGeom prst="rect">
              <a:avLst/>
            </a:prstGeom>
          </p:spPr>
        </p:pic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F2C6D83C-42EE-F519-4A16-9D5750FCE6D8}"/>
              </a:ext>
            </a:extLst>
          </p:cNvPr>
          <p:cNvGrpSpPr/>
          <p:nvPr/>
        </p:nvGrpSpPr>
        <p:grpSpPr>
          <a:xfrm>
            <a:off x="1414411" y="4797973"/>
            <a:ext cx="1023778" cy="1023778"/>
            <a:chOff x="1414411" y="5392882"/>
            <a:chExt cx="1023778" cy="1023778"/>
          </a:xfrm>
        </p:grpSpPr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4219377F-735B-3A0C-7758-D7CDFFDCC907}"/>
                </a:ext>
              </a:extLst>
            </p:cNvPr>
            <p:cNvSpPr/>
            <p:nvPr/>
          </p:nvSpPr>
          <p:spPr bwMode="auto">
            <a:xfrm>
              <a:off x="1414411" y="5392882"/>
              <a:ext cx="1023778" cy="102377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1E5D1652-07A5-9B12-62D4-A2EAC8CDD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31480" y="5598674"/>
              <a:ext cx="536957" cy="671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781612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CB95F5E4-815E-D6B8-E9CA-E4DDDC47D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013" y="0"/>
            <a:ext cx="9163987" cy="6870259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2E1E3F2D-24E9-26CF-7304-1F53CB14E67B}"/>
              </a:ext>
            </a:extLst>
          </p:cNvPr>
          <p:cNvSpPr txBox="1"/>
          <p:nvPr/>
        </p:nvSpPr>
        <p:spPr>
          <a:xfrm>
            <a:off x="353219" y="2435225"/>
            <a:ext cx="5262562" cy="32004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Let’s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decode </a:t>
            </a:r>
          </a:p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cancer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together</a:t>
            </a:r>
          </a:p>
          <a:p>
            <a:pPr algn="l"/>
            <a:endParaRPr lang="en-GB" sz="4800" noProof="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6175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CDEA155-E29A-799B-CA84-46D6F32F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-1"/>
            <a:ext cx="9207500" cy="6902882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33701C62-983B-24DD-D3A9-E0379AE834AD}"/>
              </a:ext>
            </a:extLst>
          </p:cNvPr>
          <p:cNvSpPr txBox="1"/>
          <p:nvPr/>
        </p:nvSpPr>
        <p:spPr>
          <a:xfrm>
            <a:off x="353219" y="2435225"/>
            <a:ext cx="5262562" cy="32004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Let’s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decode </a:t>
            </a:r>
          </a:p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cancer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together</a:t>
            </a:r>
          </a:p>
          <a:p>
            <a:pPr algn="l"/>
            <a:endParaRPr lang="en-GB" sz="4800" noProof="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467539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2973EA3-2A6D-3AE6-E72D-7D09809C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458" y="0"/>
            <a:ext cx="9147634" cy="685800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33701C62-983B-24DD-D3A9-E0379AE834AD}"/>
              </a:ext>
            </a:extLst>
          </p:cNvPr>
          <p:cNvSpPr txBox="1"/>
          <p:nvPr/>
        </p:nvSpPr>
        <p:spPr>
          <a:xfrm>
            <a:off x="353219" y="2435225"/>
            <a:ext cx="5262562" cy="32004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Let’s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decode </a:t>
            </a:r>
          </a:p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cancer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together</a:t>
            </a:r>
          </a:p>
          <a:p>
            <a:pPr algn="l"/>
            <a:endParaRPr lang="en-GB" sz="4800" noProof="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6541589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3BB06B1-20B7-292A-C6D3-CC8A62C7C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064" y="0"/>
            <a:ext cx="8121624" cy="6866265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33701C62-983B-24DD-D3A9-E0379AE834AD}"/>
              </a:ext>
            </a:extLst>
          </p:cNvPr>
          <p:cNvSpPr txBox="1"/>
          <p:nvPr/>
        </p:nvSpPr>
        <p:spPr>
          <a:xfrm>
            <a:off x="353219" y="2435225"/>
            <a:ext cx="3626136" cy="32004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Let’s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decode </a:t>
            </a:r>
          </a:p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cancer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together</a:t>
            </a:r>
          </a:p>
          <a:p>
            <a:pPr algn="l"/>
            <a:endParaRPr lang="en-GB" sz="4800" noProof="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779330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B9C78FD-CFBD-FAB7-4E8D-7A3C3FB390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738"/>
          <a:stretch/>
        </p:blipFill>
        <p:spPr>
          <a:xfrm>
            <a:off x="3921071" y="-6856"/>
            <a:ext cx="8270929" cy="686971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33701C62-983B-24DD-D3A9-E0379AE834AD}"/>
              </a:ext>
            </a:extLst>
          </p:cNvPr>
          <p:cNvSpPr txBox="1"/>
          <p:nvPr/>
        </p:nvSpPr>
        <p:spPr>
          <a:xfrm>
            <a:off x="353219" y="2435225"/>
            <a:ext cx="5262562" cy="32004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Let’s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decode </a:t>
            </a:r>
          </a:p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cancer </a:t>
            </a:r>
            <a:b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</a:br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together</a:t>
            </a:r>
          </a:p>
          <a:p>
            <a:pPr algn="l"/>
            <a:endParaRPr lang="en-GB" sz="4800" noProof="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698082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sz="5100" noProof="0" dirty="0"/>
              <a:t>Hartwig Medical Foundation</a:t>
            </a:r>
            <a:endParaRPr lang="en-GB" sz="5100" noProof="0" dirty="0">
              <a:cs typeface="Calibri"/>
            </a:endParaRPr>
          </a:p>
          <a:p>
            <a:r>
              <a:rPr lang="en-GB" sz="5100" noProof="0" dirty="0" err="1"/>
              <a:t>Introductie</a:t>
            </a:r>
            <a:endParaRPr lang="en-GB" sz="5100" noProof="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483316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5E8F75-5CAC-FCA9-79F6-52CC758C83F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8856364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5EDC220-BEA1-3445-897B-0A12E543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Flow ‘Diagnostics with patient consent'</a:t>
            </a:r>
          </a:p>
        </p:txBody>
      </p:sp>
      <p:sp>
        <p:nvSpPr>
          <p:cNvPr id="5" name="Google Shape;285;p34">
            <a:extLst>
              <a:ext uri="{FF2B5EF4-FFF2-40B4-BE49-F238E27FC236}">
                <a16:creationId xmlns:a16="http://schemas.microsoft.com/office/drawing/2014/main" id="{C15EF004-E410-F041-96AE-CA4F23EF67FF}"/>
              </a:ext>
            </a:extLst>
          </p:cNvPr>
          <p:cNvSpPr txBox="1"/>
          <p:nvPr/>
        </p:nvSpPr>
        <p:spPr>
          <a:xfrm>
            <a:off x="4744302" y="1361821"/>
            <a:ext cx="2687190" cy="586233"/>
          </a:xfrm>
          <a:prstGeom prst="rect">
            <a:avLst/>
          </a:prstGeom>
          <a:solidFill>
            <a:srgbClr val="BAC9F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20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Registratie</a:t>
            </a:r>
            <a:r>
              <a:rPr lang="en-GB" sz="20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 </a:t>
            </a:r>
            <a:r>
              <a:rPr lang="en-GB" sz="20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biopt</a:t>
            </a:r>
            <a:endParaRPr lang="en-GB" sz="2000" noProof="0" dirty="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  <a:p>
            <a:pPr algn="ctr"/>
            <a:r>
              <a:rPr lang="en-GB" sz="9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Patiënt</a:t>
            </a:r>
            <a:r>
              <a:rPr lang="en-GB" sz="9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 </a:t>
            </a:r>
            <a:r>
              <a:rPr lang="en-GB" sz="9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toestemming</a:t>
            </a:r>
            <a:r>
              <a:rPr lang="en-GB" sz="9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 </a:t>
            </a:r>
            <a:r>
              <a:rPr lang="en-GB" sz="9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gevraagd</a:t>
            </a:r>
            <a:r>
              <a:rPr lang="en-GB" sz="9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 </a:t>
            </a:r>
            <a:r>
              <a:rPr lang="en-GB" sz="9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bij</a:t>
            </a:r>
            <a:r>
              <a:rPr lang="en-GB" sz="9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 </a:t>
            </a:r>
            <a:r>
              <a:rPr lang="en-GB" sz="9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registratie</a:t>
            </a:r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6" name="Google Shape;296;p34">
            <a:extLst>
              <a:ext uri="{FF2B5EF4-FFF2-40B4-BE49-F238E27FC236}">
                <a16:creationId xmlns:a16="http://schemas.microsoft.com/office/drawing/2014/main" id="{A95CC457-A864-4A49-B19B-BDB8302920BD}"/>
              </a:ext>
            </a:extLst>
          </p:cNvPr>
          <p:cNvSpPr/>
          <p:nvPr/>
        </p:nvSpPr>
        <p:spPr>
          <a:xfrm>
            <a:off x="4658028" y="4675200"/>
            <a:ext cx="2314619" cy="935426"/>
          </a:xfrm>
          <a:prstGeom prst="ellipse">
            <a:avLst/>
          </a:prstGeom>
          <a:solidFill>
            <a:srgbClr val="9FAFBE"/>
          </a:solidFill>
          <a:ln w="25400" cap="rnd" cmpd="sng">
            <a:solidFill>
              <a:schemeClr val="bg1"/>
            </a:solidFill>
            <a:prstDash val="sysDot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5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Moleculaire</a:t>
            </a:r>
            <a:r>
              <a:rPr lang="en-GB" sz="15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 pipeline </a:t>
            </a:r>
            <a:endParaRPr lang="en-GB" sz="1500" i="1" noProof="0" dirty="0">
              <a:solidFill>
                <a:schemeClr val="bg1"/>
              </a:solidFill>
              <a:ea typeface="ＭＳ Ｐゴシック"/>
              <a:cs typeface="Times" charset="0"/>
            </a:endParaRPr>
          </a:p>
          <a:p>
            <a:pPr algn="ctr"/>
            <a:r>
              <a:rPr lang="en-GB" sz="1400" i="1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Diagnostische</a:t>
            </a:r>
            <a:r>
              <a:rPr lang="en-GB" sz="1400" i="1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 context</a:t>
            </a:r>
            <a:endParaRPr lang="en-GB" sz="1400" i="1" noProof="0" dirty="0">
              <a:solidFill>
                <a:schemeClr val="bg1"/>
              </a:solidFill>
              <a:ea typeface="ＭＳ Ｐゴシック"/>
              <a:cs typeface="Times"/>
            </a:endParaRPr>
          </a:p>
        </p:txBody>
      </p:sp>
      <p:sp>
        <p:nvSpPr>
          <p:cNvPr id="7" name="Google Shape;296;p34">
            <a:extLst>
              <a:ext uri="{FF2B5EF4-FFF2-40B4-BE49-F238E27FC236}">
                <a16:creationId xmlns:a16="http://schemas.microsoft.com/office/drawing/2014/main" id="{B9E06C74-469F-3641-9697-40CB4ED9255F}"/>
              </a:ext>
            </a:extLst>
          </p:cNvPr>
          <p:cNvSpPr/>
          <p:nvPr/>
        </p:nvSpPr>
        <p:spPr>
          <a:xfrm>
            <a:off x="658560" y="4759376"/>
            <a:ext cx="2302167" cy="851250"/>
          </a:xfrm>
          <a:prstGeom prst="ellipse">
            <a:avLst/>
          </a:prstGeom>
          <a:solidFill>
            <a:srgbClr val="9FAFBE"/>
          </a:solidFill>
          <a:ln w="25400" cap="rnd" cmpd="sng">
            <a:solidFill>
              <a:schemeClr val="bg1"/>
            </a:solidFill>
            <a:prstDash val="sysDot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5pPr>
            <a:lvl6pPr marL="3047924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6pPr>
            <a:lvl7pPr marL="3657509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7pPr>
            <a:lvl8pPr marL="4267093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8pPr>
            <a:lvl9pPr marL="4876678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9pPr>
          </a:lstStyle>
          <a:p>
            <a:pPr algn="ctr"/>
            <a:r>
              <a:rPr lang="en-GB" sz="15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OncoAct Rapportage</a:t>
            </a:r>
            <a:endParaRPr lang="en-GB" sz="1500" noProof="0" dirty="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  <a:p>
            <a:pPr algn="ctr"/>
            <a:r>
              <a:rPr lang="en-GB" sz="15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pipeline</a:t>
            </a:r>
            <a:endParaRPr lang="en-GB" sz="1500" i="1" noProof="0" dirty="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sp>
        <p:nvSpPr>
          <p:cNvPr id="8" name="Google Shape;296;p34">
            <a:extLst>
              <a:ext uri="{FF2B5EF4-FFF2-40B4-BE49-F238E27FC236}">
                <a16:creationId xmlns:a16="http://schemas.microsoft.com/office/drawing/2014/main" id="{01C14168-FCC6-7446-863A-BDDEDFE22B5E}"/>
              </a:ext>
            </a:extLst>
          </p:cNvPr>
          <p:cNvSpPr/>
          <p:nvPr/>
        </p:nvSpPr>
        <p:spPr>
          <a:xfrm>
            <a:off x="9566363" y="1782540"/>
            <a:ext cx="2377538" cy="1048342"/>
          </a:xfrm>
          <a:prstGeom prst="ellipse">
            <a:avLst/>
          </a:prstGeom>
          <a:solidFill>
            <a:srgbClr val="8FAADD"/>
          </a:solidFill>
          <a:ln w="25400" cap="rnd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8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   </a:t>
            </a:r>
            <a:r>
              <a:rPr lang="en-GB" sz="1800" b="1" noProof="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Koppeling</a:t>
            </a:r>
            <a:r>
              <a:rPr lang="en-GB" sz="18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 silo</a:t>
            </a:r>
            <a:endParaRPr lang="en-GB" sz="1800" b="1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9" name="Google Shape;283;p34">
            <a:extLst>
              <a:ext uri="{FF2B5EF4-FFF2-40B4-BE49-F238E27FC236}">
                <a16:creationId xmlns:a16="http://schemas.microsoft.com/office/drawing/2014/main" id="{9DD5E6D1-C019-BA46-A61B-469607788EC4}"/>
              </a:ext>
            </a:extLst>
          </p:cNvPr>
          <p:cNvCxnSpPr>
            <a:cxnSpLocks/>
          </p:cNvCxnSpPr>
          <p:nvPr/>
        </p:nvCxnSpPr>
        <p:spPr>
          <a:xfrm>
            <a:off x="7071976" y="2022017"/>
            <a:ext cx="0" cy="4793851"/>
          </a:xfrm>
          <a:prstGeom prst="straightConnector1">
            <a:avLst/>
          </a:prstGeom>
          <a:noFill/>
          <a:ln w="28575" cap="flat" cmpd="sng">
            <a:solidFill>
              <a:srgbClr val="E52F28"/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10" name="Google Shape;286;p34">
            <a:extLst>
              <a:ext uri="{FF2B5EF4-FFF2-40B4-BE49-F238E27FC236}">
                <a16:creationId xmlns:a16="http://schemas.microsoft.com/office/drawing/2014/main" id="{1568D381-351C-4541-8ED6-7CD16A02B4E9}"/>
              </a:ext>
            </a:extLst>
          </p:cNvPr>
          <p:cNvCxnSpPr>
            <a:cxnSpLocks/>
          </p:cNvCxnSpPr>
          <p:nvPr/>
        </p:nvCxnSpPr>
        <p:spPr>
          <a:xfrm>
            <a:off x="6067919" y="2019825"/>
            <a:ext cx="0" cy="705719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322;p34">
            <a:extLst>
              <a:ext uri="{FF2B5EF4-FFF2-40B4-BE49-F238E27FC236}">
                <a16:creationId xmlns:a16="http://schemas.microsoft.com/office/drawing/2014/main" id="{369767BD-2DFB-9344-9292-4E178274646B}"/>
              </a:ext>
            </a:extLst>
          </p:cNvPr>
          <p:cNvSpPr/>
          <p:nvPr/>
        </p:nvSpPr>
        <p:spPr>
          <a:xfrm>
            <a:off x="3723548" y="4314869"/>
            <a:ext cx="1537553" cy="48164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9FAFBE"/>
            </a:solidFill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Data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wordt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verwijderd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na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90</a:t>
            </a:r>
            <a:endParaRPr lang="en-GB" noProof="0" dirty="0"/>
          </a:p>
          <a:p>
            <a:pPr algn="ctr"/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dagen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(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tenzij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anders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</a:t>
            </a:r>
            <a:endParaRPr lang="en-GB" noProof="0" dirty="0"/>
          </a:p>
          <a:p>
            <a:pPr algn="ctr"/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overeengekomen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ＭＳ Ｐゴシック"/>
                <a:cs typeface="Calibri"/>
              </a:rPr>
              <a:t> in de DVO)</a:t>
            </a:r>
            <a:endParaRPr lang="en-GB" noProof="0" dirty="0">
              <a:ea typeface="ＭＳ Ｐゴシック"/>
            </a:endParaRPr>
          </a:p>
        </p:txBody>
      </p:sp>
      <p:sp>
        <p:nvSpPr>
          <p:cNvPr id="12" name="Google Shape;312;p34">
            <a:extLst>
              <a:ext uri="{FF2B5EF4-FFF2-40B4-BE49-F238E27FC236}">
                <a16:creationId xmlns:a16="http://schemas.microsoft.com/office/drawing/2014/main" id="{0802EFA3-9861-9946-9B93-5654055D73C3}"/>
              </a:ext>
            </a:extLst>
          </p:cNvPr>
          <p:cNvSpPr txBox="1"/>
          <p:nvPr/>
        </p:nvSpPr>
        <p:spPr>
          <a:xfrm rot="21599002">
            <a:off x="523134" y="5761923"/>
            <a:ext cx="2717151" cy="73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gedeeld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met arts 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onder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GB" sz="1050" noProof="0" dirty="0">
              <a:solidFill>
                <a:srgbClr val="7030A0"/>
              </a:solidFill>
              <a:latin typeface="ＭＳ Ｐゴシック" charset="0"/>
              <a:cs typeface="Calibri"/>
              <a:sym typeface="Calibri"/>
            </a:endParaRPr>
          </a:p>
          <a:p>
            <a:pPr algn="ctr"/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studie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nummer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(studies) | 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indirecte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directe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patiëntkenmerken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 (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diagnostiek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GB" sz="1050" noProof="0" dirty="0">
              <a:solidFill>
                <a:srgbClr val="7030A0"/>
              </a:solidFill>
              <a:latin typeface="Calibri"/>
              <a:cs typeface="Calibri"/>
            </a:endParaRPr>
          </a:p>
        </p:txBody>
      </p:sp>
      <p:sp>
        <p:nvSpPr>
          <p:cNvPr id="13" name="Google Shape;315;p34">
            <a:extLst>
              <a:ext uri="{FF2B5EF4-FFF2-40B4-BE49-F238E27FC236}">
                <a16:creationId xmlns:a16="http://schemas.microsoft.com/office/drawing/2014/main" id="{B63F3666-175D-E649-8C6D-84B35039B904}"/>
              </a:ext>
            </a:extLst>
          </p:cNvPr>
          <p:cNvSpPr/>
          <p:nvPr/>
        </p:nvSpPr>
        <p:spPr>
          <a:xfrm rot="5400000">
            <a:off x="1785684" y="5483900"/>
            <a:ext cx="141562" cy="547336"/>
          </a:xfrm>
          <a:prstGeom prst="chevron">
            <a:avLst>
              <a:gd name="adj" fmla="val 50000"/>
            </a:avLst>
          </a:prstGeom>
          <a:solidFill>
            <a:srgbClr val="7030A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GB" sz="2489" noProof="0" dirty="0">
              <a:solidFill>
                <a:srgbClr val="EF827E"/>
              </a:solidFill>
            </a:endParaRPr>
          </a:p>
        </p:txBody>
      </p:sp>
      <p:sp>
        <p:nvSpPr>
          <p:cNvPr id="14" name="Google Shape;307;p34">
            <a:extLst>
              <a:ext uri="{FF2B5EF4-FFF2-40B4-BE49-F238E27FC236}">
                <a16:creationId xmlns:a16="http://schemas.microsoft.com/office/drawing/2014/main" id="{0502467B-097B-B148-919F-D1C8A0547C4F}"/>
              </a:ext>
            </a:extLst>
          </p:cNvPr>
          <p:cNvSpPr/>
          <p:nvPr/>
        </p:nvSpPr>
        <p:spPr>
          <a:xfrm>
            <a:off x="10053638" y="2831012"/>
            <a:ext cx="1658277" cy="526341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70C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050" i="1" noProof="0" dirty="0" err="1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Koppeling</a:t>
            </a:r>
            <a:r>
              <a:rPr lang="en-GB" sz="1050" i="1" noProof="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 met </a:t>
            </a:r>
            <a:r>
              <a:rPr lang="en-GB" sz="1050" i="1" noProof="0" dirty="0" err="1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andere</a:t>
            </a:r>
            <a:r>
              <a:rPr lang="en-GB" sz="1050" i="1" noProof="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 </a:t>
            </a:r>
            <a:r>
              <a:rPr lang="en-GB" sz="1050" i="1" noProof="0" dirty="0" err="1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databronnen</a:t>
            </a:r>
            <a:r>
              <a:rPr lang="en-GB" sz="1050" i="1" noProof="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GB" sz="1050" i="1" noProof="0" dirty="0" err="1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mbv</a:t>
            </a:r>
            <a:r>
              <a:rPr lang="en-GB" sz="1050" i="1" noProof="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 </a:t>
            </a:r>
            <a:r>
              <a:rPr lang="en-GB" sz="1050" i="1" noProof="0" dirty="0" err="1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pseudoniemen</a:t>
            </a:r>
            <a:endParaRPr lang="en-GB" noProof="0" dirty="0">
              <a:ea typeface="ＭＳ Ｐゴシック"/>
            </a:endParaRPr>
          </a:p>
        </p:txBody>
      </p:sp>
      <p:sp>
        <p:nvSpPr>
          <p:cNvPr id="15" name="Google Shape;307;p34">
            <a:extLst>
              <a:ext uri="{FF2B5EF4-FFF2-40B4-BE49-F238E27FC236}">
                <a16:creationId xmlns:a16="http://schemas.microsoft.com/office/drawing/2014/main" id="{76D543AC-3020-DA4A-8D30-C04EC8A84078}"/>
              </a:ext>
            </a:extLst>
          </p:cNvPr>
          <p:cNvSpPr/>
          <p:nvPr/>
        </p:nvSpPr>
        <p:spPr>
          <a:xfrm>
            <a:off x="9125232" y="1892704"/>
            <a:ext cx="983369" cy="469289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 cap="rnd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050" i="1" noProof="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Pseudoniem</a:t>
            </a:r>
            <a:r>
              <a:rPr lang="en-GB" sz="1050" i="1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generator</a:t>
            </a:r>
          </a:p>
        </p:txBody>
      </p:sp>
      <p:sp>
        <p:nvSpPr>
          <p:cNvPr id="16" name="Google Shape;291;p34">
            <a:extLst>
              <a:ext uri="{FF2B5EF4-FFF2-40B4-BE49-F238E27FC236}">
                <a16:creationId xmlns:a16="http://schemas.microsoft.com/office/drawing/2014/main" id="{5C9BF743-709E-2840-BF41-5512E78B8F08}"/>
              </a:ext>
            </a:extLst>
          </p:cNvPr>
          <p:cNvSpPr txBox="1"/>
          <p:nvPr/>
        </p:nvSpPr>
        <p:spPr>
          <a:xfrm>
            <a:off x="9820910" y="5094050"/>
            <a:ext cx="1760310" cy="760894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800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Hartwig</a:t>
            </a:r>
          </a:p>
          <a:p>
            <a:pPr algn="ctr"/>
            <a:r>
              <a:rPr lang="en-GB" sz="1800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Medical Database</a:t>
            </a:r>
          </a:p>
        </p:txBody>
      </p:sp>
      <p:sp>
        <p:nvSpPr>
          <p:cNvPr id="17" name="Google Shape;314;p34">
            <a:extLst>
              <a:ext uri="{FF2B5EF4-FFF2-40B4-BE49-F238E27FC236}">
                <a16:creationId xmlns:a16="http://schemas.microsoft.com/office/drawing/2014/main" id="{30D6CE46-517E-6740-B73C-4CBEFE7C49B8}"/>
              </a:ext>
            </a:extLst>
          </p:cNvPr>
          <p:cNvSpPr txBox="1"/>
          <p:nvPr/>
        </p:nvSpPr>
        <p:spPr>
          <a:xfrm rot="21598711">
            <a:off x="9636456" y="6123571"/>
            <a:ext cx="21880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Data 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gedeeld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 met 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onderzoekers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onder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: Hartwig-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specifieke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1050" noProof="0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pseudoniemen</a:t>
            </a:r>
            <a:r>
              <a:rPr lang="en-GB" sz="1050" noProof="0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GB" sz="1050" noProof="0" dirty="0">
              <a:solidFill>
                <a:srgbClr val="7030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304;p34">
            <a:extLst>
              <a:ext uri="{FF2B5EF4-FFF2-40B4-BE49-F238E27FC236}">
                <a16:creationId xmlns:a16="http://schemas.microsoft.com/office/drawing/2014/main" id="{B006087A-1B11-9A4C-8D1A-4B6D99B9A30E}"/>
              </a:ext>
            </a:extLst>
          </p:cNvPr>
          <p:cNvSpPr txBox="1"/>
          <p:nvPr/>
        </p:nvSpPr>
        <p:spPr>
          <a:xfrm rot="19560000">
            <a:off x="2745221" y="3543222"/>
            <a:ext cx="1412391" cy="3600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Indirecte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patiëntkenmerken</a:t>
            </a:r>
            <a:b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</a:b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+ metadata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biopt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tumor</a:t>
            </a:r>
            <a:endParaRPr lang="en-GB" noProof="0" dirty="0"/>
          </a:p>
        </p:txBody>
      </p:sp>
      <p:sp>
        <p:nvSpPr>
          <p:cNvPr id="19" name="Google Shape;298;p34">
            <a:extLst>
              <a:ext uri="{FF2B5EF4-FFF2-40B4-BE49-F238E27FC236}">
                <a16:creationId xmlns:a16="http://schemas.microsoft.com/office/drawing/2014/main" id="{F76FF0F1-BAD7-8E4D-9E6D-67F3F57757A6}"/>
              </a:ext>
            </a:extLst>
          </p:cNvPr>
          <p:cNvSpPr txBox="1"/>
          <p:nvPr/>
        </p:nvSpPr>
        <p:spPr>
          <a:xfrm rot="20880000">
            <a:off x="3482622" y="1837587"/>
            <a:ext cx="858069" cy="355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Directe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patiëntkenmerken</a:t>
            </a:r>
            <a:endParaRPr lang="en-GB" sz="900" i="1" noProof="0" dirty="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3EFA1D35-7967-764C-A57F-A17B002DC681}"/>
              </a:ext>
            </a:extLst>
          </p:cNvPr>
          <p:cNvCxnSpPr>
            <a:cxnSpLocks/>
          </p:cNvCxnSpPr>
          <p:nvPr/>
        </p:nvCxnSpPr>
        <p:spPr bwMode="auto">
          <a:xfrm>
            <a:off x="1825650" y="2718635"/>
            <a:ext cx="9236" cy="1952832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06C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" name="Google Shape;298;p34">
            <a:extLst>
              <a:ext uri="{FF2B5EF4-FFF2-40B4-BE49-F238E27FC236}">
                <a16:creationId xmlns:a16="http://schemas.microsoft.com/office/drawing/2014/main" id="{F077D087-1E50-9244-8EC9-5463CCA291C2}"/>
              </a:ext>
            </a:extLst>
          </p:cNvPr>
          <p:cNvSpPr txBox="1"/>
          <p:nvPr/>
        </p:nvSpPr>
        <p:spPr>
          <a:xfrm>
            <a:off x="861629" y="3356788"/>
            <a:ext cx="913487" cy="364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ＭＳ Ｐゴシック"/>
                <a:cs typeface="Calibri"/>
                <a:sym typeface="Calibri"/>
              </a:rPr>
              <a:t>Directe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ＭＳ Ｐゴシック"/>
                <a:cs typeface="Calibri"/>
                <a:sym typeface="Calibri"/>
              </a:rPr>
              <a:t> </a:t>
            </a:r>
            <a:endParaRPr lang="en-GB" noProof="0" dirty="0">
              <a:solidFill>
                <a:schemeClr val="accent1"/>
              </a:solidFill>
              <a:ea typeface="ＭＳ Ｐゴシック"/>
            </a:endParaRPr>
          </a:p>
          <a:p>
            <a:pPr algn="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patiëntkenmerken</a:t>
            </a: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22" name="Google Shape;304;p34">
            <a:extLst>
              <a:ext uri="{FF2B5EF4-FFF2-40B4-BE49-F238E27FC236}">
                <a16:creationId xmlns:a16="http://schemas.microsoft.com/office/drawing/2014/main" id="{F48F7C2A-FEDD-E040-86CB-431E1CD636AB}"/>
              </a:ext>
            </a:extLst>
          </p:cNvPr>
          <p:cNvSpPr txBox="1"/>
          <p:nvPr/>
        </p:nvSpPr>
        <p:spPr>
          <a:xfrm>
            <a:off x="4583522" y="2185017"/>
            <a:ext cx="1412391" cy="3600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Indirecte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patiëntkenmerken</a:t>
            </a:r>
            <a:b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</a:b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+ metadata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biopt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tumor</a:t>
            </a:r>
            <a:endParaRPr lang="en-GB" noProof="0" dirty="0">
              <a:solidFill>
                <a:schemeClr val="accent1"/>
              </a:solidFill>
            </a:endParaRPr>
          </a:p>
        </p:txBody>
      </p:sp>
      <p:cxnSp>
        <p:nvCxnSpPr>
          <p:cNvPr id="23" name="Google Shape;286;p34">
            <a:extLst>
              <a:ext uri="{FF2B5EF4-FFF2-40B4-BE49-F238E27FC236}">
                <a16:creationId xmlns:a16="http://schemas.microsoft.com/office/drawing/2014/main" id="{9C788B5F-FA18-9442-8C6A-68AAF6924A46}"/>
              </a:ext>
            </a:extLst>
          </p:cNvPr>
          <p:cNvCxnSpPr>
            <a:cxnSpLocks/>
          </p:cNvCxnSpPr>
          <p:nvPr/>
        </p:nvCxnSpPr>
        <p:spPr>
          <a:xfrm>
            <a:off x="5965603" y="3498046"/>
            <a:ext cx="0" cy="314993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301;p34">
            <a:extLst>
              <a:ext uri="{FF2B5EF4-FFF2-40B4-BE49-F238E27FC236}">
                <a16:creationId xmlns:a16="http://schemas.microsoft.com/office/drawing/2014/main" id="{13A6E489-44B4-304C-8E7E-DC2484EED3CB}"/>
              </a:ext>
            </a:extLst>
          </p:cNvPr>
          <p:cNvSpPr/>
          <p:nvPr/>
        </p:nvSpPr>
        <p:spPr>
          <a:xfrm>
            <a:off x="4739683" y="2798993"/>
            <a:ext cx="2193925" cy="6552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4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Interne lab database </a:t>
            </a:r>
            <a:r>
              <a:rPr lang="en-GB" sz="20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LAMA</a:t>
            </a:r>
          </a:p>
        </p:txBody>
      </p:sp>
      <p:cxnSp>
        <p:nvCxnSpPr>
          <p:cNvPr id="25" name="Google Shape;286;p34">
            <a:extLst>
              <a:ext uri="{FF2B5EF4-FFF2-40B4-BE49-F238E27FC236}">
                <a16:creationId xmlns:a16="http://schemas.microsoft.com/office/drawing/2014/main" id="{30345AE7-B88E-2B41-8A8C-77BF3B11FFFC}"/>
              </a:ext>
            </a:extLst>
          </p:cNvPr>
          <p:cNvCxnSpPr>
            <a:cxnSpLocks/>
          </p:cNvCxnSpPr>
          <p:nvPr/>
        </p:nvCxnSpPr>
        <p:spPr>
          <a:xfrm flipH="1">
            <a:off x="3021962" y="5119957"/>
            <a:ext cx="1559766" cy="4096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286;p34">
            <a:extLst>
              <a:ext uri="{FF2B5EF4-FFF2-40B4-BE49-F238E27FC236}">
                <a16:creationId xmlns:a16="http://schemas.microsoft.com/office/drawing/2014/main" id="{16A4272C-750C-0C48-BF0B-11C1AB4934AA}"/>
              </a:ext>
            </a:extLst>
          </p:cNvPr>
          <p:cNvCxnSpPr>
            <a:cxnSpLocks/>
          </p:cNvCxnSpPr>
          <p:nvPr/>
        </p:nvCxnSpPr>
        <p:spPr>
          <a:xfrm flipH="1">
            <a:off x="10759065" y="3448255"/>
            <a:ext cx="24170" cy="1569778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ysDot"/>
            <a:round/>
            <a:headEnd type="none" w="med" len="med"/>
            <a:tailEnd type="triangle" w="med" len="med"/>
          </a:ln>
        </p:spPr>
      </p:cxnSp>
      <p:sp>
        <p:nvSpPr>
          <p:cNvPr id="27" name="Google Shape;304;p34">
            <a:extLst>
              <a:ext uri="{FF2B5EF4-FFF2-40B4-BE49-F238E27FC236}">
                <a16:creationId xmlns:a16="http://schemas.microsoft.com/office/drawing/2014/main" id="{82351728-63CD-8148-87E3-735A99DDB7D5}"/>
              </a:ext>
            </a:extLst>
          </p:cNvPr>
          <p:cNvSpPr txBox="1"/>
          <p:nvPr/>
        </p:nvSpPr>
        <p:spPr>
          <a:xfrm>
            <a:off x="10878315" y="3813015"/>
            <a:ext cx="983218" cy="459497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Klinische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uit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andere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databronnen</a:t>
            </a:r>
            <a:endParaRPr lang="en-GB" noProof="0" dirty="0">
              <a:solidFill>
                <a:schemeClr val="accent1"/>
              </a:solidFill>
            </a:endParaRPr>
          </a:p>
        </p:txBody>
      </p:sp>
      <p:cxnSp>
        <p:nvCxnSpPr>
          <p:cNvPr id="28" name="Google Shape;286;p34">
            <a:extLst>
              <a:ext uri="{FF2B5EF4-FFF2-40B4-BE49-F238E27FC236}">
                <a16:creationId xmlns:a16="http://schemas.microsoft.com/office/drawing/2014/main" id="{3001F1D2-0851-4340-A592-4EB63D00B20F}"/>
              </a:ext>
            </a:extLst>
          </p:cNvPr>
          <p:cNvCxnSpPr>
            <a:cxnSpLocks/>
          </p:cNvCxnSpPr>
          <p:nvPr/>
        </p:nvCxnSpPr>
        <p:spPr>
          <a:xfrm>
            <a:off x="9326953" y="5404237"/>
            <a:ext cx="405198" cy="96982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304;p34">
            <a:extLst>
              <a:ext uri="{FF2B5EF4-FFF2-40B4-BE49-F238E27FC236}">
                <a16:creationId xmlns:a16="http://schemas.microsoft.com/office/drawing/2014/main" id="{FEC2BFED-7FED-594A-BD85-64367CB6ECDA}"/>
              </a:ext>
            </a:extLst>
          </p:cNvPr>
          <p:cNvSpPr txBox="1"/>
          <p:nvPr/>
        </p:nvSpPr>
        <p:spPr>
          <a:xfrm rot="840000">
            <a:off x="9114980" y="5447137"/>
            <a:ext cx="725182" cy="3600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sym typeface="Calibri"/>
              </a:rPr>
              <a:t>Ruwe &amp; </a:t>
            </a:r>
          </a:p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sym typeface="Calibri"/>
              </a:rPr>
              <a:t>analyse data</a:t>
            </a:r>
            <a:endParaRPr lang="en-GB" sz="900" i="1" noProof="0" dirty="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0" name="Google Shape;286;p34">
            <a:extLst>
              <a:ext uri="{FF2B5EF4-FFF2-40B4-BE49-F238E27FC236}">
                <a16:creationId xmlns:a16="http://schemas.microsoft.com/office/drawing/2014/main" id="{1D907D0E-1E87-0F45-A871-FE3EABCBEE9E}"/>
              </a:ext>
            </a:extLst>
          </p:cNvPr>
          <p:cNvCxnSpPr>
            <a:cxnSpLocks/>
          </p:cNvCxnSpPr>
          <p:nvPr/>
        </p:nvCxnSpPr>
        <p:spPr>
          <a:xfrm>
            <a:off x="5879339" y="4341066"/>
            <a:ext cx="0" cy="294167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298;p34">
            <a:extLst>
              <a:ext uri="{FF2B5EF4-FFF2-40B4-BE49-F238E27FC236}">
                <a16:creationId xmlns:a16="http://schemas.microsoft.com/office/drawing/2014/main" id="{11DD44CE-928E-2947-B22C-8DD332F87743}"/>
              </a:ext>
            </a:extLst>
          </p:cNvPr>
          <p:cNvSpPr txBox="1"/>
          <p:nvPr/>
        </p:nvSpPr>
        <p:spPr>
          <a:xfrm rot="660000">
            <a:off x="8144188" y="1883687"/>
            <a:ext cx="955051" cy="373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Directe</a:t>
            </a:r>
            <a:endParaRPr lang="en-GB" sz="900" i="1" noProof="0" dirty="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patiëntkenmerken</a:t>
            </a:r>
            <a:endParaRPr lang="en-GB" sz="900" i="1" noProof="0" dirty="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04;p34">
            <a:extLst>
              <a:ext uri="{FF2B5EF4-FFF2-40B4-BE49-F238E27FC236}">
                <a16:creationId xmlns:a16="http://schemas.microsoft.com/office/drawing/2014/main" id="{A1226A76-DA60-8C4B-93EB-C48BBD39D1CE}"/>
              </a:ext>
            </a:extLst>
          </p:cNvPr>
          <p:cNvSpPr txBox="1"/>
          <p:nvPr/>
        </p:nvSpPr>
        <p:spPr>
          <a:xfrm rot="17940000">
            <a:off x="8486116" y="3556435"/>
            <a:ext cx="1082196" cy="336376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sym typeface="Calibri"/>
              </a:rPr>
              <a:t>Hartwig-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sym typeface="Calibri"/>
              </a:rPr>
              <a:t>specifiieke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sym typeface="Calibri"/>
              </a:rPr>
              <a:t> </a:t>
            </a:r>
            <a:endParaRPr lang="en-GB" noProof="0" dirty="0">
              <a:solidFill>
                <a:schemeClr val="accent1"/>
              </a:solidFill>
              <a:sym typeface="Calibri"/>
            </a:endParaRPr>
          </a:p>
          <a:p>
            <a:pPr algn="ct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ＭＳ Ｐゴシック"/>
                <a:sym typeface="Calibri"/>
              </a:rPr>
              <a:t>pseudoniemen</a:t>
            </a:r>
            <a:endParaRPr lang="en-GB" sz="900" i="1" noProof="0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33" name="Google Shape;318;p34">
            <a:extLst>
              <a:ext uri="{FF2B5EF4-FFF2-40B4-BE49-F238E27FC236}">
                <a16:creationId xmlns:a16="http://schemas.microsoft.com/office/drawing/2014/main" id="{D3D6CBDA-8FAC-B441-B666-3DD188739B5F}"/>
              </a:ext>
            </a:extLst>
          </p:cNvPr>
          <p:cNvSpPr/>
          <p:nvPr/>
        </p:nvSpPr>
        <p:spPr>
          <a:xfrm>
            <a:off x="6678966" y="3014968"/>
            <a:ext cx="1598874" cy="43668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8FAADD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wordt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20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jaar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GB" noProof="0" dirty="0">
              <a:solidFill>
                <a:schemeClr val="accent1"/>
              </a:solidFill>
              <a:sym typeface="Calibri"/>
            </a:endParaRPr>
          </a:p>
          <a:p>
            <a:pPr algn="ctr"/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bewaard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(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kwaliteitsdoeleinden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34" name="Google Shape;296;p34">
            <a:extLst>
              <a:ext uri="{FF2B5EF4-FFF2-40B4-BE49-F238E27FC236}">
                <a16:creationId xmlns:a16="http://schemas.microsoft.com/office/drawing/2014/main" id="{C42FBD41-B9D1-6A4C-8E99-27A2CA12515B}"/>
              </a:ext>
            </a:extLst>
          </p:cNvPr>
          <p:cNvSpPr/>
          <p:nvPr/>
        </p:nvSpPr>
        <p:spPr>
          <a:xfrm>
            <a:off x="662274" y="1756838"/>
            <a:ext cx="2382156" cy="909797"/>
          </a:xfrm>
          <a:prstGeom prst="ellipse">
            <a:avLst/>
          </a:prstGeom>
          <a:solidFill>
            <a:srgbClr val="8FAADD"/>
          </a:solidFill>
          <a:ln w="25400" cap="rnd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1800" b="1" noProof="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Diagnostiche</a:t>
            </a:r>
            <a:r>
              <a:rPr lang="en-GB" sz="18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silo</a:t>
            </a:r>
            <a:endParaRPr lang="en-GB" sz="1800" noProof="0" dirty="0">
              <a:solidFill>
                <a:schemeClr val="bg1"/>
              </a:solidFill>
            </a:endParaRPr>
          </a:p>
        </p:txBody>
      </p:sp>
      <p:sp>
        <p:nvSpPr>
          <p:cNvPr id="35" name="Google Shape;322;p34">
            <a:extLst>
              <a:ext uri="{FF2B5EF4-FFF2-40B4-BE49-F238E27FC236}">
                <a16:creationId xmlns:a16="http://schemas.microsoft.com/office/drawing/2014/main" id="{ACD031A1-D6C3-DC4F-9B24-3D8DBB75B1C6}"/>
              </a:ext>
            </a:extLst>
          </p:cNvPr>
          <p:cNvSpPr/>
          <p:nvPr/>
        </p:nvSpPr>
        <p:spPr>
          <a:xfrm>
            <a:off x="181226" y="1409578"/>
            <a:ext cx="1446429" cy="49910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8FAADD"/>
            </a:solidFill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Data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wordt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verwijderd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90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dagen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(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tenzij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anders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GB" noProof="0" dirty="0">
              <a:solidFill>
                <a:srgbClr val="FFFFFF"/>
              </a:solidFill>
              <a:cs typeface="Times" charset="0"/>
              <a:sym typeface="Calibri"/>
            </a:endParaRPr>
          </a:p>
          <a:p>
            <a:pPr algn="ctr"/>
            <a:r>
              <a:rPr lang="en-GB" sz="900" i="1" noProof="0" dirty="0" err="1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overeengekomen</a:t>
            </a:r>
            <a:r>
              <a:rPr lang="en-GB" sz="900" i="1" noProof="0" dirty="0">
                <a:solidFill>
                  <a:srgbClr val="4B629D"/>
                </a:solidFill>
                <a:latin typeface="Calibri"/>
                <a:ea typeface="Calibri"/>
                <a:cs typeface="Calibri"/>
                <a:sym typeface="Calibri"/>
              </a:rPr>
              <a:t> in de DVO)</a:t>
            </a:r>
            <a:endParaRPr lang="en-GB" noProof="0" dirty="0">
              <a:cs typeface="Times"/>
            </a:endParaRPr>
          </a:p>
        </p:txBody>
      </p:sp>
      <p:sp>
        <p:nvSpPr>
          <p:cNvPr id="36" name="Driehoek 35">
            <a:extLst>
              <a:ext uri="{FF2B5EF4-FFF2-40B4-BE49-F238E27FC236}">
                <a16:creationId xmlns:a16="http://schemas.microsoft.com/office/drawing/2014/main" id="{D36DA75F-8C13-D84E-A0AE-036F74FEA80F}"/>
              </a:ext>
            </a:extLst>
          </p:cNvPr>
          <p:cNvSpPr/>
          <p:nvPr/>
        </p:nvSpPr>
        <p:spPr bwMode="auto">
          <a:xfrm rot="10800000">
            <a:off x="1186264" y="1887862"/>
            <a:ext cx="217705" cy="187677"/>
          </a:xfrm>
          <a:prstGeom prst="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7" name="Driehoek 36">
            <a:extLst>
              <a:ext uri="{FF2B5EF4-FFF2-40B4-BE49-F238E27FC236}">
                <a16:creationId xmlns:a16="http://schemas.microsoft.com/office/drawing/2014/main" id="{360C230F-368F-1047-977D-220B55BDB876}"/>
              </a:ext>
            </a:extLst>
          </p:cNvPr>
          <p:cNvSpPr/>
          <p:nvPr/>
        </p:nvSpPr>
        <p:spPr bwMode="auto">
          <a:xfrm rot="10800000">
            <a:off x="4855293" y="4767549"/>
            <a:ext cx="217705" cy="187677"/>
          </a:xfrm>
          <a:prstGeom prst="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8" name="Driehoek 37">
            <a:extLst>
              <a:ext uri="{FF2B5EF4-FFF2-40B4-BE49-F238E27FC236}">
                <a16:creationId xmlns:a16="http://schemas.microsoft.com/office/drawing/2014/main" id="{E06C923F-99E3-F142-A548-E255DF38DDAE}"/>
              </a:ext>
            </a:extLst>
          </p:cNvPr>
          <p:cNvSpPr/>
          <p:nvPr/>
        </p:nvSpPr>
        <p:spPr bwMode="auto">
          <a:xfrm rot="16200000">
            <a:off x="6522451" y="3209847"/>
            <a:ext cx="217705" cy="187677"/>
          </a:xfrm>
          <a:prstGeom prst="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39" name="Google Shape;304;p34">
            <a:extLst>
              <a:ext uri="{FF2B5EF4-FFF2-40B4-BE49-F238E27FC236}">
                <a16:creationId xmlns:a16="http://schemas.microsoft.com/office/drawing/2014/main" id="{0FD8610B-91EB-9642-9F0B-47F281D1F84F}"/>
              </a:ext>
            </a:extLst>
          </p:cNvPr>
          <p:cNvSpPr txBox="1"/>
          <p:nvPr/>
        </p:nvSpPr>
        <p:spPr>
          <a:xfrm>
            <a:off x="3467739" y="5123515"/>
            <a:ext cx="776373" cy="36000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Ruwe &amp; </a:t>
            </a:r>
            <a:endParaRPr lang="en-GB" sz="900" i="1" noProof="0" dirty="0">
              <a:solidFill>
                <a:schemeClr val="accent1"/>
              </a:solidFill>
              <a:latin typeface="Calibri"/>
              <a:cs typeface="Calibri"/>
            </a:endParaRPr>
          </a:p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analyse data</a:t>
            </a:r>
          </a:p>
        </p:txBody>
      </p:sp>
      <p:sp>
        <p:nvSpPr>
          <p:cNvPr id="40" name="Google Shape;301;p34">
            <a:extLst>
              <a:ext uri="{FF2B5EF4-FFF2-40B4-BE49-F238E27FC236}">
                <a16:creationId xmlns:a16="http://schemas.microsoft.com/office/drawing/2014/main" id="{2DEB834C-5532-ED47-A04B-6FBE8C1AA2A1}"/>
              </a:ext>
            </a:extLst>
          </p:cNvPr>
          <p:cNvSpPr/>
          <p:nvPr/>
        </p:nvSpPr>
        <p:spPr>
          <a:xfrm>
            <a:off x="4940967" y="3856793"/>
            <a:ext cx="1790479" cy="435362"/>
          </a:xfrm>
          <a:prstGeom prst="rect">
            <a:avLst/>
          </a:prstGeom>
          <a:solidFill>
            <a:srgbClr val="0070C0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0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  Sequencing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D07947F1-5712-E345-84DA-6D7F7FF84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6781" y="4637357"/>
            <a:ext cx="913688" cy="91368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20000"/>
              </a:prstClr>
            </a:outerShdw>
          </a:effectLst>
        </p:spPr>
      </p:pic>
      <p:sp>
        <p:nvSpPr>
          <p:cNvPr id="42" name="Google Shape;305;p34">
            <a:extLst>
              <a:ext uri="{FF2B5EF4-FFF2-40B4-BE49-F238E27FC236}">
                <a16:creationId xmlns:a16="http://schemas.microsoft.com/office/drawing/2014/main" id="{915CEC9E-AF59-B241-A625-6832DB7A4514}"/>
              </a:ext>
            </a:extLst>
          </p:cNvPr>
          <p:cNvSpPr txBox="1"/>
          <p:nvPr/>
        </p:nvSpPr>
        <p:spPr>
          <a:xfrm>
            <a:off x="3863803" y="6139469"/>
            <a:ext cx="3556017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608965" lvl="1" algn="ctr"/>
            <a:r>
              <a:rPr lang="en-GB" sz="1050" b="1" noProof="0" dirty="0">
                <a:solidFill>
                  <a:schemeClr val="accent2"/>
                </a:solidFill>
                <a:latin typeface="Calibri"/>
                <a:ea typeface="Calibri"/>
                <a:cs typeface="Times"/>
                <a:sym typeface="Calibri"/>
              </a:rPr>
              <a:t>          Dienst </a:t>
            </a:r>
            <a:r>
              <a:rPr lang="en-GB" sz="1050" b="1" noProof="0" dirty="0" err="1">
                <a:solidFill>
                  <a:schemeClr val="accent2"/>
                </a:solidFill>
                <a:latin typeface="Calibri"/>
                <a:ea typeface="Calibri"/>
                <a:cs typeface="Times"/>
                <a:sym typeface="Calibri"/>
              </a:rPr>
              <a:t>Verlenings</a:t>
            </a:r>
            <a:r>
              <a:rPr lang="en-GB" sz="1050" b="1" noProof="0" dirty="0">
                <a:solidFill>
                  <a:schemeClr val="accent2"/>
                </a:solidFill>
                <a:latin typeface="Calibri"/>
                <a:ea typeface="Calibri"/>
                <a:cs typeface="Times"/>
                <a:sym typeface="Calibri"/>
              </a:rPr>
              <a:t> </a:t>
            </a:r>
            <a:r>
              <a:rPr lang="en-GB" sz="1050" b="1" noProof="0" dirty="0" err="1">
                <a:solidFill>
                  <a:schemeClr val="accent2"/>
                </a:solidFill>
                <a:latin typeface="Calibri"/>
                <a:ea typeface="Calibri"/>
                <a:cs typeface="Times"/>
                <a:sym typeface="Calibri"/>
              </a:rPr>
              <a:t>Overeenkomst</a:t>
            </a:r>
            <a:r>
              <a:rPr lang="en-GB" sz="1050" b="1" noProof="0" dirty="0">
                <a:solidFill>
                  <a:schemeClr val="accent2"/>
                </a:solidFill>
                <a:latin typeface="Calibri"/>
                <a:ea typeface="Calibri"/>
                <a:cs typeface="Times"/>
                <a:sym typeface="Calibri"/>
              </a:rPr>
              <a:t>                         </a:t>
            </a:r>
            <a:endParaRPr lang="en-GB" sz="1050" b="1" noProof="0" dirty="0">
              <a:solidFill>
                <a:schemeClr val="accent2"/>
              </a:solidFill>
              <a:latin typeface="Calibri"/>
              <a:ea typeface="Calibri"/>
              <a:cs typeface="Times"/>
            </a:endParaRPr>
          </a:p>
          <a:p>
            <a:pPr marL="608965" lvl="1" algn="ctr"/>
            <a:r>
              <a:rPr lang="en-GB" sz="2450" b="1" noProof="0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Disagnostics</a:t>
            </a:r>
            <a:r>
              <a:rPr lang="en-GB" sz="2450" b="1" noProof="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←</a:t>
            </a:r>
            <a:endParaRPr lang="en-GB" sz="2450" b="1" i="1" noProof="0" dirty="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 sz="1400" b="1" noProof="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     </a:t>
            </a:r>
            <a:r>
              <a:rPr lang="en-GB" sz="2450" b="1" noProof="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GB" sz="2450" b="1" noProof="0" dirty="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305;p34">
            <a:extLst>
              <a:ext uri="{FF2B5EF4-FFF2-40B4-BE49-F238E27FC236}">
                <a16:creationId xmlns:a16="http://schemas.microsoft.com/office/drawing/2014/main" id="{FA1850CE-4198-9B4C-927F-F1A9A5FDDE8B}"/>
              </a:ext>
            </a:extLst>
          </p:cNvPr>
          <p:cNvSpPr txBox="1"/>
          <p:nvPr/>
        </p:nvSpPr>
        <p:spPr>
          <a:xfrm>
            <a:off x="6988002" y="6139468"/>
            <a:ext cx="269495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050" b="1" noProof="0" dirty="0">
                <a:solidFill>
                  <a:schemeClr val="accent2"/>
                </a:solidFill>
                <a:latin typeface="Calibri"/>
                <a:ea typeface="Calibri"/>
                <a:cs typeface="Times"/>
              </a:rPr>
              <a:t>                    Database </a:t>
            </a:r>
            <a:r>
              <a:rPr lang="en-GB" sz="1050" b="1" noProof="0" dirty="0" err="1">
                <a:solidFill>
                  <a:schemeClr val="accent2"/>
                </a:solidFill>
                <a:latin typeface="Calibri"/>
                <a:ea typeface="Calibri"/>
                <a:cs typeface="Times"/>
              </a:rPr>
              <a:t>Overeenkomst</a:t>
            </a:r>
            <a:endParaRPr lang="en-GB" sz="1050" noProof="0" dirty="0">
              <a:solidFill>
                <a:schemeClr val="accent2"/>
              </a:solidFill>
              <a:latin typeface="Calibri"/>
              <a:cs typeface="Calibri"/>
            </a:endParaRPr>
          </a:p>
          <a:p>
            <a:r>
              <a:rPr lang="en-GB" sz="1400" b="1" noProof="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2450" b="1" noProof="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  </a:t>
            </a:r>
            <a:r>
              <a:rPr lang="en-GB" sz="2450" b="1" noProof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→ Re-use</a:t>
            </a:r>
            <a:endParaRPr lang="en-GB" sz="2450" b="1" noProof="0" dirty="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  <a:p>
            <a:endParaRPr lang="en-GB" sz="1050" b="1" noProof="0" dirty="0">
              <a:solidFill>
                <a:schemeClr val="accent2"/>
              </a:solidFill>
              <a:latin typeface="Calibri"/>
              <a:ea typeface="Calibri"/>
              <a:cs typeface="Times"/>
            </a:endParaRPr>
          </a:p>
        </p:txBody>
      </p:sp>
      <p:cxnSp>
        <p:nvCxnSpPr>
          <p:cNvPr id="44" name="Google Shape;286;p34">
            <a:extLst>
              <a:ext uri="{FF2B5EF4-FFF2-40B4-BE49-F238E27FC236}">
                <a16:creationId xmlns:a16="http://schemas.microsoft.com/office/drawing/2014/main" id="{B4B30501-67EF-5241-9F4D-AF121FE19755}"/>
              </a:ext>
            </a:extLst>
          </p:cNvPr>
          <p:cNvCxnSpPr>
            <a:cxnSpLocks/>
          </p:cNvCxnSpPr>
          <p:nvPr/>
        </p:nvCxnSpPr>
        <p:spPr>
          <a:xfrm flipH="1">
            <a:off x="3056771" y="1671394"/>
            <a:ext cx="1634705" cy="370717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286;p34">
            <a:extLst>
              <a:ext uri="{FF2B5EF4-FFF2-40B4-BE49-F238E27FC236}">
                <a16:creationId xmlns:a16="http://schemas.microsoft.com/office/drawing/2014/main" id="{8BCEC664-F7F9-A248-AB8E-CD3BB98F7CD5}"/>
              </a:ext>
            </a:extLst>
          </p:cNvPr>
          <p:cNvCxnSpPr>
            <a:cxnSpLocks/>
          </p:cNvCxnSpPr>
          <p:nvPr/>
        </p:nvCxnSpPr>
        <p:spPr>
          <a:xfrm>
            <a:off x="8120776" y="1809502"/>
            <a:ext cx="948668" cy="189040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286;p34">
            <a:extLst>
              <a:ext uri="{FF2B5EF4-FFF2-40B4-BE49-F238E27FC236}">
                <a16:creationId xmlns:a16="http://schemas.microsoft.com/office/drawing/2014/main" id="{6DC401BF-53F0-124E-BDD3-4B99ED0B51C7}"/>
              </a:ext>
            </a:extLst>
          </p:cNvPr>
          <p:cNvCxnSpPr>
            <a:cxnSpLocks/>
          </p:cNvCxnSpPr>
          <p:nvPr/>
        </p:nvCxnSpPr>
        <p:spPr>
          <a:xfrm flipH="1">
            <a:off x="2298608" y="3121503"/>
            <a:ext cx="2391866" cy="1597411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" name="Google Shape;296;p34">
            <a:extLst>
              <a:ext uri="{FF2B5EF4-FFF2-40B4-BE49-F238E27FC236}">
                <a16:creationId xmlns:a16="http://schemas.microsoft.com/office/drawing/2014/main" id="{EC35D067-75E7-CF49-9D1D-07C5A6D87E22}"/>
              </a:ext>
            </a:extLst>
          </p:cNvPr>
          <p:cNvSpPr/>
          <p:nvPr/>
        </p:nvSpPr>
        <p:spPr>
          <a:xfrm>
            <a:off x="7138928" y="4675200"/>
            <a:ext cx="2244698" cy="935426"/>
          </a:xfrm>
          <a:prstGeom prst="ellipse">
            <a:avLst/>
          </a:prstGeom>
          <a:solidFill>
            <a:srgbClr val="9FAFBE"/>
          </a:solidFill>
          <a:ln w="25400" cap="rnd" cmpd="sng">
            <a:solidFill>
              <a:schemeClr val="bg1"/>
            </a:solidFill>
            <a:prstDash val="sysDot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5pPr>
            <a:lvl6pPr marL="3047924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6pPr>
            <a:lvl7pPr marL="3657509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7pPr>
            <a:lvl8pPr marL="4267093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8pPr>
            <a:lvl9pPr marL="4876678" algn="l" defTabSz="609585" rtl="0" eaLnBrk="1" latinLnBrk="0" hangingPunct="1">
              <a:defRPr sz="3200" kern="1200">
                <a:solidFill>
                  <a:schemeClr val="tx1"/>
                </a:solidFill>
                <a:latin typeface="Times" charset="0"/>
                <a:ea typeface="ＭＳ Ｐゴシック" charset="0"/>
                <a:cs typeface="+mn-cs"/>
              </a:defRPr>
            </a:lvl9pPr>
          </a:lstStyle>
          <a:p>
            <a:pPr algn="ctr"/>
            <a:r>
              <a:rPr lang="en-GB" sz="1500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Moleculaire</a:t>
            </a:r>
            <a:r>
              <a:rPr lang="en-GB" sz="1500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 pipeline</a:t>
            </a:r>
            <a:endParaRPr lang="en-GB" sz="1500" noProof="0" dirty="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  <a:p>
            <a:pPr algn="ctr"/>
            <a:r>
              <a:rPr lang="en-GB" sz="1400" i="1" noProof="0" dirty="0" err="1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Onderzoeks</a:t>
            </a:r>
            <a:r>
              <a:rPr lang="en-GB" sz="1400" i="1" noProof="0" dirty="0">
                <a:solidFill>
                  <a:schemeClr val="bg1"/>
                </a:solidFill>
                <a:latin typeface="Calibri"/>
                <a:ea typeface="ＭＳ Ｐゴシック"/>
                <a:cs typeface="Calibri"/>
                <a:sym typeface="Calibri"/>
              </a:rPr>
              <a:t> context</a:t>
            </a:r>
            <a:endParaRPr lang="en-GB" sz="1400" i="1" noProof="0" dirty="0">
              <a:solidFill>
                <a:schemeClr val="bg1"/>
              </a:solidFill>
              <a:ea typeface="ＭＳ Ｐゴシック"/>
              <a:cs typeface="Times"/>
            </a:endParaRPr>
          </a:p>
        </p:txBody>
      </p:sp>
      <p:cxnSp>
        <p:nvCxnSpPr>
          <p:cNvPr id="48" name="Google Shape;286;p34">
            <a:extLst>
              <a:ext uri="{FF2B5EF4-FFF2-40B4-BE49-F238E27FC236}">
                <a16:creationId xmlns:a16="http://schemas.microsoft.com/office/drawing/2014/main" id="{C9114C99-95F9-4047-8F1A-71D1DC21DA9D}"/>
              </a:ext>
            </a:extLst>
          </p:cNvPr>
          <p:cNvCxnSpPr>
            <a:cxnSpLocks/>
          </p:cNvCxnSpPr>
          <p:nvPr/>
        </p:nvCxnSpPr>
        <p:spPr>
          <a:xfrm>
            <a:off x="7412507" y="4257675"/>
            <a:ext cx="687362" cy="364737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" name="Google Shape;286;p34">
            <a:extLst>
              <a:ext uri="{FF2B5EF4-FFF2-40B4-BE49-F238E27FC236}">
                <a16:creationId xmlns:a16="http://schemas.microsoft.com/office/drawing/2014/main" id="{9017CA14-F9BE-BB43-AB88-2B5C9C0B2C99}"/>
              </a:ext>
            </a:extLst>
          </p:cNvPr>
          <p:cNvCxnSpPr>
            <a:cxnSpLocks/>
          </p:cNvCxnSpPr>
          <p:nvPr/>
        </p:nvCxnSpPr>
        <p:spPr>
          <a:xfrm flipH="1">
            <a:off x="8243556" y="2403174"/>
            <a:ext cx="1287607" cy="2220762"/>
          </a:xfrm>
          <a:prstGeom prst="straightConnector1">
            <a:avLst/>
          </a:prstGeom>
          <a:noFill/>
          <a:ln w="50800" cap="flat" cmpd="sng">
            <a:solidFill>
              <a:srgbClr val="006C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" name="Google Shape;315;p34">
            <a:extLst>
              <a:ext uri="{FF2B5EF4-FFF2-40B4-BE49-F238E27FC236}">
                <a16:creationId xmlns:a16="http://schemas.microsoft.com/office/drawing/2014/main" id="{A58D4964-5C3C-924E-9F63-2FCC696E5065}"/>
              </a:ext>
            </a:extLst>
          </p:cNvPr>
          <p:cNvSpPr/>
          <p:nvPr/>
        </p:nvSpPr>
        <p:spPr>
          <a:xfrm rot="5400000">
            <a:off x="10666447" y="5714808"/>
            <a:ext cx="141562" cy="547336"/>
          </a:xfrm>
          <a:prstGeom prst="chevron">
            <a:avLst>
              <a:gd name="adj" fmla="val 50000"/>
            </a:avLst>
          </a:prstGeom>
          <a:solidFill>
            <a:srgbClr val="7030A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GB" sz="2489" noProof="0" dirty="0">
              <a:solidFill>
                <a:srgbClr val="EF827E"/>
              </a:solidFill>
            </a:endParaRPr>
          </a:p>
        </p:txBody>
      </p:sp>
      <p:grpSp>
        <p:nvGrpSpPr>
          <p:cNvPr id="51" name="Groep 50">
            <a:extLst>
              <a:ext uri="{FF2B5EF4-FFF2-40B4-BE49-F238E27FC236}">
                <a16:creationId xmlns:a16="http://schemas.microsoft.com/office/drawing/2014/main" id="{B191C427-9423-0547-94AD-F225FFE3F7F1}"/>
              </a:ext>
            </a:extLst>
          </p:cNvPr>
          <p:cNvGrpSpPr/>
          <p:nvPr/>
        </p:nvGrpSpPr>
        <p:grpSpPr>
          <a:xfrm>
            <a:off x="7164883" y="1319449"/>
            <a:ext cx="864000" cy="864000"/>
            <a:chOff x="7225727" y="516425"/>
            <a:chExt cx="864000" cy="864000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52" name="Ovaal 51">
              <a:extLst>
                <a:ext uri="{FF2B5EF4-FFF2-40B4-BE49-F238E27FC236}">
                  <a16:creationId xmlns:a16="http://schemas.microsoft.com/office/drawing/2014/main" id="{9F1D8010-06C7-9748-AEA4-1D2AC9059B53}"/>
                </a:ext>
              </a:extLst>
            </p:cNvPr>
            <p:cNvSpPr/>
            <p:nvPr/>
          </p:nvSpPr>
          <p:spPr bwMode="auto">
            <a:xfrm>
              <a:off x="7291367" y="608120"/>
              <a:ext cx="745535" cy="745535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53" name="Google Shape;320;p34">
              <a:extLst>
                <a:ext uri="{FF2B5EF4-FFF2-40B4-BE49-F238E27FC236}">
                  <a16:creationId xmlns:a16="http://schemas.microsoft.com/office/drawing/2014/main" id="{4866AA48-3DE9-B84F-A083-20E959F49F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5727" y="516425"/>
              <a:ext cx="864000" cy="864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GB" sz="800" i="1" noProof="0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Alleen met</a:t>
              </a:r>
              <a:br>
                <a:rPr lang="en-GB" sz="800" i="1" noProof="0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</a:br>
              <a:r>
                <a:rPr lang="en-GB" sz="800" i="1" noProof="0" dirty="0" err="1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toestemming</a:t>
              </a:r>
              <a:r>
                <a:rPr lang="en-GB" sz="800" i="1" noProof="0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 van de </a:t>
              </a:r>
              <a:r>
                <a:rPr lang="en-GB" sz="800" i="1" noProof="0" dirty="0" err="1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patiënt</a:t>
              </a:r>
              <a:endParaRPr lang="en-GB" sz="8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oep 53">
            <a:extLst>
              <a:ext uri="{FF2B5EF4-FFF2-40B4-BE49-F238E27FC236}">
                <a16:creationId xmlns:a16="http://schemas.microsoft.com/office/drawing/2014/main" id="{C45E15CD-771B-A549-8821-E9871B4B9DB2}"/>
              </a:ext>
            </a:extLst>
          </p:cNvPr>
          <p:cNvGrpSpPr/>
          <p:nvPr/>
        </p:nvGrpSpPr>
        <p:grpSpPr>
          <a:xfrm>
            <a:off x="6567492" y="3714357"/>
            <a:ext cx="864000" cy="864000"/>
            <a:chOff x="7225727" y="516425"/>
            <a:chExt cx="864000" cy="864000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55" name="Ovaal 54">
              <a:extLst>
                <a:ext uri="{FF2B5EF4-FFF2-40B4-BE49-F238E27FC236}">
                  <a16:creationId xmlns:a16="http://schemas.microsoft.com/office/drawing/2014/main" id="{95C701B0-4ED5-A740-B1A2-EE50EF87A219}"/>
                </a:ext>
              </a:extLst>
            </p:cNvPr>
            <p:cNvSpPr/>
            <p:nvPr/>
          </p:nvSpPr>
          <p:spPr bwMode="auto">
            <a:xfrm>
              <a:off x="7291367" y="608120"/>
              <a:ext cx="745535" cy="745535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56" name="Google Shape;320;p34">
              <a:extLst>
                <a:ext uri="{FF2B5EF4-FFF2-40B4-BE49-F238E27FC236}">
                  <a16:creationId xmlns:a16="http://schemas.microsoft.com/office/drawing/2014/main" id="{52332AC6-FFB1-204E-97EE-3C5DA40167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5727" y="516425"/>
              <a:ext cx="864000" cy="864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en-GB" sz="800" i="1" noProof="0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Alleen met</a:t>
              </a:r>
              <a:br>
                <a:rPr lang="en-GB" sz="800" i="1" noProof="0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</a:br>
              <a:r>
                <a:rPr lang="en-GB" sz="800" i="1" noProof="0" dirty="0" err="1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toestemming</a:t>
              </a:r>
              <a:r>
                <a:rPr lang="en-GB" sz="800" i="1" noProof="0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 van de </a:t>
              </a:r>
              <a:r>
                <a:rPr lang="en-GB" sz="800" i="1" noProof="0" dirty="0" err="1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patiënt</a:t>
              </a:r>
              <a:endParaRPr lang="en-GB" sz="8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Google Shape;317;p34">
            <a:extLst>
              <a:ext uri="{FF2B5EF4-FFF2-40B4-BE49-F238E27FC236}">
                <a16:creationId xmlns:a16="http://schemas.microsoft.com/office/drawing/2014/main" id="{E325A4F3-7360-FD42-9018-978F34234FA6}"/>
              </a:ext>
            </a:extLst>
          </p:cNvPr>
          <p:cNvSpPr/>
          <p:nvPr/>
        </p:nvSpPr>
        <p:spPr>
          <a:xfrm>
            <a:off x="134285" y="4230254"/>
            <a:ext cx="1605906" cy="61399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9FAFBE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Rapportagebestanden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worden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minimaal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10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jaar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bewaard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tenzij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anders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GB" sz="900" i="1" noProof="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overeengekomen</a:t>
            </a: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900" i="1" noProof="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de DVO)</a:t>
            </a: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8" name="Driehoek 57">
            <a:extLst>
              <a:ext uri="{FF2B5EF4-FFF2-40B4-BE49-F238E27FC236}">
                <a16:creationId xmlns:a16="http://schemas.microsoft.com/office/drawing/2014/main" id="{BE81CBB2-EF3B-8A41-A752-1CCC29D2B9BF}"/>
              </a:ext>
            </a:extLst>
          </p:cNvPr>
          <p:cNvSpPr/>
          <p:nvPr/>
        </p:nvSpPr>
        <p:spPr bwMode="auto">
          <a:xfrm rot="10800000">
            <a:off x="1277919" y="4782790"/>
            <a:ext cx="203328" cy="194867"/>
          </a:xfrm>
          <a:prstGeom prst="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5135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4C59032-EC01-D6CC-898C-B3F78BE4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7520894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Hartwig_NL_16-9">
  <a:themeElements>
    <a:clrScheme name="Aangepast 1">
      <a:dk1>
        <a:srgbClr val="003C66"/>
      </a:dk1>
      <a:lt1>
        <a:srgbClr val="FFFFFF"/>
      </a:lt1>
      <a:dk2>
        <a:srgbClr val="FFFFFF"/>
      </a:dk2>
      <a:lt2>
        <a:srgbClr val="000000"/>
      </a:lt2>
      <a:accent1>
        <a:srgbClr val="084AC4"/>
      </a:accent1>
      <a:accent2>
        <a:srgbClr val="ED2F24"/>
      </a:accent2>
      <a:accent3>
        <a:srgbClr val="FCAF17"/>
      </a:accent3>
      <a:accent4>
        <a:srgbClr val="92C7EC"/>
      </a:accent4>
      <a:accent5>
        <a:srgbClr val="878787"/>
      </a:accent5>
      <a:accent6>
        <a:srgbClr val="000000"/>
      </a:accent6>
      <a:hlink>
        <a:srgbClr val="1161C6"/>
      </a:hlink>
      <a:folHlink>
        <a:srgbClr val="E3004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6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>
    <a:extraClrScheme>
      <a:clrScheme name="Default Design 1">
        <a:dk1>
          <a:srgbClr val="101463"/>
        </a:dk1>
        <a:lt1>
          <a:srgbClr val="FFFFFF"/>
        </a:lt1>
        <a:dk2>
          <a:srgbClr val="B5E7FF"/>
        </a:dk2>
        <a:lt2>
          <a:srgbClr val="111166"/>
        </a:lt2>
        <a:accent1>
          <a:srgbClr val="119DF9"/>
        </a:accent1>
        <a:accent2>
          <a:srgbClr val="117FE4"/>
        </a:accent2>
        <a:accent3>
          <a:srgbClr val="D7F1FF"/>
        </a:accent3>
        <a:accent4>
          <a:srgbClr val="DADADA"/>
        </a:accent4>
        <a:accent5>
          <a:srgbClr val="AACCFB"/>
        </a:accent5>
        <a:accent6>
          <a:srgbClr val="0E72CF"/>
        </a:accent6>
        <a:hlink>
          <a:srgbClr val="1161C6"/>
        </a:hlink>
        <a:folHlink>
          <a:srgbClr val="114DB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6d6438-e9ad-4da0-9228-a830c7f8c96a" xsi:nil="true"/>
    <lcf76f155ced4ddcb4097134ff3c332f xmlns="fe75ccc3-b94e-42db-a142-5779954527a6">
      <Terms xmlns="http://schemas.microsoft.com/office/infopath/2007/PartnerControls"/>
    </lcf76f155ced4ddcb4097134ff3c332f>
    <Tags xmlns="fe75ccc3-b94e-42db-a142-5779954527a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215CC3C1754C4C89CA471AA83C930C" ma:contentTypeVersion="13" ma:contentTypeDescription="Create a new document." ma:contentTypeScope="" ma:versionID="2b62ecd815d144fa90485b6fc28b1250">
  <xsd:schema xmlns:xsd="http://www.w3.org/2001/XMLSchema" xmlns:xs="http://www.w3.org/2001/XMLSchema" xmlns:p="http://schemas.microsoft.com/office/2006/metadata/properties" xmlns:ns2="fe75ccc3-b94e-42db-a142-5779954527a6" xmlns:ns3="5f6d6438-e9ad-4da0-9228-a830c7f8c96a" targetNamespace="http://schemas.microsoft.com/office/2006/metadata/properties" ma:root="true" ma:fieldsID="f480d88e2d048b92a0b6ff1e51fd0d53" ns2:_="" ns3:_="">
    <xsd:import namespace="fe75ccc3-b94e-42db-a142-5779954527a6"/>
    <xsd:import namespace="5f6d6438-e9ad-4da0-9228-a830c7f8c96a"/>
    <xsd:element name="properties">
      <xsd:complexType>
        <xsd:sequence>
          <xsd:element name="documentManagement">
            <xsd:complexType>
              <xsd:all>
                <xsd:element ref="ns2:Tag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75ccc3-b94e-42db-a142-5779954527a6" elementFormDefault="qualified">
    <xsd:import namespace="http://schemas.microsoft.com/office/2006/documentManagement/types"/>
    <xsd:import namespace="http://schemas.microsoft.com/office/infopath/2007/PartnerControls"/>
    <xsd:element name="Tags" ma:index="8" nillable="true" ma:displayName="Tags" ma:internalName="Tags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013940b-c602-4a2d-8799-08152672d0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6d6438-e9ad-4da0-9228-a830c7f8c96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4f82098-64b6-486d-9f1d-130f5e3f1bea}" ma:internalName="TaxCatchAll" ma:showField="CatchAllData" ma:web="5f6d6438-e9ad-4da0-9228-a830c7f8c9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143E34-40D5-4FFD-A716-ED5A4CC4E9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C2AE45-4660-44E0-84D4-DC2C67A70B8F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fe75ccc3-b94e-42db-a142-5779954527a6"/>
    <ds:schemaRef ds:uri="http://purl.org/dc/terms/"/>
    <ds:schemaRef ds:uri="http://purl.org/dc/dcmitype/"/>
    <ds:schemaRef ds:uri="http://schemas.openxmlformats.org/package/2006/metadata/core-properties"/>
    <ds:schemaRef ds:uri="5f6d6438-e9ad-4da0-9228-a830c7f8c96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1EB818-CF03-4D54-BF26-AF7D491A1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75ccc3-b94e-42db-a142-5779954527a6"/>
    <ds:schemaRef ds:uri="5f6d6438-e9ad-4da0-9228-a830c7f8c9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337</Words>
  <Application>Microsoft Office PowerPoint</Application>
  <PresentationFormat>Widescreen</PresentationFormat>
  <Paragraphs>88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Hartwig_NL_16-9</vt:lpstr>
      <vt:lpstr>Title</vt:lpstr>
      <vt:lpstr>PowerPoint Presentation</vt:lpstr>
      <vt:lpstr>Disclosures</vt:lpstr>
      <vt:lpstr>PowerPoint Presentation</vt:lpstr>
      <vt:lpstr>PowerPoint Presentation</vt:lpstr>
      <vt:lpstr>PowerPoint Presentation</vt:lpstr>
      <vt:lpstr>Hartwig Medical Foundation</vt:lpstr>
      <vt:lpstr>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‘Diagnostics with patient consent'</vt:lpstr>
      <vt:lpstr>PowerPoint Presentation</vt:lpstr>
    </vt:vector>
  </TitlesOfParts>
  <Company>LUMC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YourName</dc:creator>
  <cp:lastModifiedBy>Joep de Ligt</cp:lastModifiedBy>
  <cp:revision>279</cp:revision>
  <dcterms:created xsi:type="dcterms:W3CDTF">2004-01-22T14:47:02Z</dcterms:created>
  <dcterms:modified xsi:type="dcterms:W3CDTF">2025-08-20T03:11:57Z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0x01010032215CC3C1754C4C89CA471AA83C930C</vt:lpwstr>
  </property>
</Properties>
</file>